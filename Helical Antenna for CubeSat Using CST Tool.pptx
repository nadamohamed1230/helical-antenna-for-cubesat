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Ubuntu Bold" charset="1" panose="020B0804030602030204"/>
      <p:regular r:id="rId20"/>
    </p:embeddedFont>
    <p:embeddedFont>
      <p:font typeface="Open Sans" charset="1" panose="020B0606030504020204"/>
      <p:regular r:id="rId21"/>
    </p:embeddedFont>
    <p:embeddedFont>
      <p:font typeface="Canva Sans Bold" charset="1" panose="020B0803030501040103"/>
      <p:regular r:id="rId22"/>
    </p:embeddedFont>
    <p:embeddedFont>
      <p:font typeface="Open Sans Bold" charset="1" panose="020B08060305040202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7.jpeg" Type="http://schemas.openxmlformats.org/officeDocument/2006/relationships/image"/><Relationship Id="rId5" Target="../media/VAGm9UjCxSQ.mp4" Type="http://schemas.openxmlformats.org/officeDocument/2006/relationships/video"/><Relationship Id="rId6" Target="../media/VAGm9UjCxSQ.mp4" Type="http://schemas.microsoft.com/office/2007/relationships/media"/></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8.jpeg" Type="http://schemas.openxmlformats.org/officeDocument/2006/relationships/image"/><Relationship Id="rId5" Target="../media/VAGm9d6kO-c.mp4" Type="http://schemas.openxmlformats.org/officeDocument/2006/relationships/video"/><Relationship Id="rId6" Target="../media/VAGm9d6kO-c.mp4" Type="http://schemas.microsoft.com/office/2007/relationships/media"/></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https://www.ijcrt.org/papers/IJCRTAO02028.pdf" TargetMode="External" Type="http://schemas.openxmlformats.org/officeDocument/2006/relationships/hyperlink"/></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25100" y="-478246"/>
            <a:ext cx="9873830" cy="11243492"/>
          </a:xfrm>
          <a:custGeom>
            <a:avLst/>
            <a:gdLst/>
            <a:ahLst/>
            <a:cxnLst/>
            <a:rect r="r" b="b" t="t" l="l"/>
            <a:pathLst>
              <a:path h="11243492" w="9873830">
                <a:moveTo>
                  <a:pt x="0" y="0"/>
                </a:moveTo>
                <a:lnTo>
                  <a:pt x="9873830" y="0"/>
                </a:lnTo>
                <a:lnTo>
                  <a:pt x="9873830" y="11243492"/>
                </a:lnTo>
                <a:lnTo>
                  <a:pt x="0" y="112434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17950" y="-348044"/>
            <a:ext cx="3870050" cy="3870050"/>
          </a:xfrm>
          <a:custGeom>
            <a:avLst/>
            <a:gdLst/>
            <a:ahLst/>
            <a:cxnLst/>
            <a:rect r="r" b="b" t="t" l="l"/>
            <a:pathLst>
              <a:path h="3870050" w="3870050">
                <a:moveTo>
                  <a:pt x="0" y="0"/>
                </a:moveTo>
                <a:lnTo>
                  <a:pt x="3870050" y="0"/>
                </a:lnTo>
                <a:lnTo>
                  <a:pt x="3870050" y="3870050"/>
                </a:lnTo>
                <a:lnTo>
                  <a:pt x="0" y="3870050"/>
                </a:lnTo>
                <a:lnTo>
                  <a:pt x="0" y="0"/>
                </a:lnTo>
                <a:close/>
              </a:path>
            </a:pathLst>
          </a:custGeom>
          <a:blipFill>
            <a:blip r:embed="rId4"/>
            <a:stretch>
              <a:fillRect l="0" t="0" r="0" b="0"/>
            </a:stretch>
          </a:blipFill>
        </p:spPr>
      </p:sp>
      <p:sp>
        <p:nvSpPr>
          <p:cNvPr name="Freeform 4" id="4"/>
          <p:cNvSpPr/>
          <p:nvPr/>
        </p:nvSpPr>
        <p:spPr>
          <a:xfrm flipH="false" flipV="false" rot="0">
            <a:off x="12079564" y="2952883"/>
            <a:ext cx="5841645" cy="4381234"/>
          </a:xfrm>
          <a:custGeom>
            <a:avLst/>
            <a:gdLst/>
            <a:ahLst/>
            <a:cxnLst/>
            <a:rect r="r" b="b" t="t" l="l"/>
            <a:pathLst>
              <a:path h="4381234" w="5841645">
                <a:moveTo>
                  <a:pt x="0" y="0"/>
                </a:moveTo>
                <a:lnTo>
                  <a:pt x="5841645" y="0"/>
                </a:lnTo>
                <a:lnTo>
                  <a:pt x="5841645" y="4381234"/>
                </a:lnTo>
                <a:lnTo>
                  <a:pt x="0" y="4381234"/>
                </a:lnTo>
                <a:lnTo>
                  <a:pt x="0" y="0"/>
                </a:lnTo>
                <a:close/>
              </a:path>
            </a:pathLst>
          </a:custGeom>
          <a:blipFill>
            <a:blip r:embed="rId5"/>
            <a:stretch>
              <a:fillRect l="0" t="0" r="0" b="0"/>
            </a:stretch>
          </a:blipFill>
        </p:spPr>
      </p:sp>
      <p:sp>
        <p:nvSpPr>
          <p:cNvPr name="TextBox 5" id="5"/>
          <p:cNvSpPr txBox="true"/>
          <p:nvPr/>
        </p:nvSpPr>
        <p:spPr>
          <a:xfrm rot="0">
            <a:off x="3148827" y="2663246"/>
            <a:ext cx="9446083" cy="3369083"/>
          </a:xfrm>
          <a:prstGeom prst="rect">
            <a:avLst/>
          </a:prstGeom>
        </p:spPr>
        <p:txBody>
          <a:bodyPr anchor="t" rtlCol="false" tIns="0" lIns="0" bIns="0" rIns="0">
            <a:spAutoFit/>
          </a:bodyPr>
          <a:lstStyle/>
          <a:p>
            <a:pPr algn="l">
              <a:lnSpc>
                <a:spcPts val="8767"/>
              </a:lnSpc>
            </a:pPr>
            <a:r>
              <a:rPr lang="en-US" sz="7970" b="true">
                <a:solidFill>
                  <a:srgbClr val="034383"/>
                </a:solidFill>
                <a:latin typeface="Ubuntu Bold"/>
                <a:ea typeface="Ubuntu Bold"/>
                <a:cs typeface="Ubuntu Bold"/>
                <a:sym typeface="Ubuntu Bold"/>
              </a:rPr>
              <a:t>HELICAL ANTENNA</a:t>
            </a:r>
          </a:p>
          <a:p>
            <a:pPr algn="l">
              <a:lnSpc>
                <a:spcPts val="8767"/>
              </a:lnSpc>
            </a:pPr>
            <a:r>
              <a:rPr lang="en-US" sz="7970" b="true">
                <a:solidFill>
                  <a:srgbClr val="034383"/>
                </a:solidFill>
                <a:latin typeface="Ubuntu Bold"/>
                <a:ea typeface="Ubuntu Bold"/>
                <a:cs typeface="Ubuntu Bold"/>
                <a:sym typeface="Ubuntu Bold"/>
              </a:rPr>
              <a:t>FOR CUBESAT USING </a:t>
            </a:r>
            <a:r>
              <a:rPr lang="en-US" sz="7970" b="true">
                <a:solidFill>
                  <a:srgbClr val="034383"/>
                </a:solidFill>
                <a:latin typeface="Ubuntu Bold"/>
                <a:ea typeface="Ubuntu Bold"/>
                <a:cs typeface="Ubuntu Bold"/>
                <a:sym typeface="Ubuntu Bold"/>
              </a:rPr>
              <a:t>CST Tool</a:t>
            </a:r>
          </a:p>
        </p:txBody>
      </p:sp>
      <p:sp>
        <p:nvSpPr>
          <p:cNvPr name="TextBox 6" id="6"/>
          <p:cNvSpPr txBox="true"/>
          <p:nvPr/>
        </p:nvSpPr>
        <p:spPr>
          <a:xfrm rot="0">
            <a:off x="2800218" y="6576146"/>
            <a:ext cx="8958668" cy="596900"/>
          </a:xfrm>
          <a:prstGeom prst="rect">
            <a:avLst/>
          </a:prstGeom>
        </p:spPr>
        <p:txBody>
          <a:bodyPr anchor="t" rtlCol="false" tIns="0" lIns="0" bIns="0" rIns="0">
            <a:spAutoFit/>
          </a:bodyPr>
          <a:lstStyle/>
          <a:p>
            <a:pPr algn="l">
              <a:lnSpc>
                <a:spcPts val="4900"/>
              </a:lnSpc>
            </a:pPr>
            <a:r>
              <a:rPr lang="en-US" sz="3500">
                <a:solidFill>
                  <a:srgbClr val="4294CE"/>
                </a:solidFill>
                <a:latin typeface="Open Sans"/>
                <a:ea typeface="Open Sans"/>
                <a:cs typeface="Open Sans"/>
                <a:sym typeface="Open Sans"/>
              </a:rPr>
              <a:t>Team mrmbers:</a:t>
            </a:r>
          </a:p>
        </p:txBody>
      </p:sp>
      <p:sp>
        <p:nvSpPr>
          <p:cNvPr name="TextBox 7" id="7"/>
          <p:cNvSpPr txBox="true"/>
          <p:nvPr/>
        </p:nvSpPr>
        <p:spPr>
          <a:xfrm rot="0">
            <a:off x="2800218" y="7451752"/>
            <a:ext cx="11885047" cy="596900"/>
          </a:xfrm>
          <a:prstGeom prst="rect">
            <a:avLst/>
          </a:prstGeom>
        </p:spPr>
        <p:txBody>
          <a:bodyPr anchor="t" rtlCol="false" tIns="0" lIns="0" bIns="0" rIns="0">
            <a:spAutoFit/>
          </a:bodyPr>
          <a:lstStyle/>
          <a:p>
            <a:pPr algn="l">
              <a:lnSpc>
                <a:spcPts val="4900"/>
              </a:lnSpc>
            </a:pPr>
            <a:r>
              <a:rPr lang="en-US" sz="3500">
                <a:solidFill>
                  <a:srgbClr val="4294CE"/>
                </a:solidFill>
                <a:latin typeface="Open Sans"/>
                <a:ea typeface="Open Sans"/>
                <a:cs typeface="Open Sans"/>
                <a:sym typeface="Open Sans"/>
              </a:rPr>
              <a:t>Nada Mohamed</a:t>
            </a:r>
            <a:r>
              <a:rPr lang="en-US" sz="3500">
                <a:solidFill>
                  <a:srgbClr val="4294CE"/>
                </a:solidFill>
                <a:latin typeface="Open Sans"/>
                <a:ea typeface="Open Sans"/>
                <a:cs typeface="Open Sans"/>
                <a:sym typeface="Open Sans"/>
              </a:rPr>
              <a:t> 202200635     Dolagy George 202200720 </a:t>
            </a:r>
          </a:p>
        </p:txBody>
      </p:sp>
      <p:sp>
        <p:nvSpPr>
          <p:cNvPr name="TextBox 8" id="8"/>
          <p:cNvSpPr txBox="true"/>
          <p:nvPr/>
        </p:nvSpPr>
        <p:spPr>
          <a:xfrm rot="0">
            <a:off x="2800218" y="8324877"/>
            <a:ext cx="11885047" cy="596900"/>
          </a:xfrm>
          <a:prstGeom prst="rect">
            <a:avLst/>
          </a:prstGeom>
        </p:spPr>
        <p:txBody>
          <a:bodyPr anchor="t" rtlCol="false" tIns="0" lIns="0" bIns="0" rIns="0">
            <a:spAutoFit/>
          </a:bodyPr>
          <a:lstStyle/>
          <a:p>
            <a:pPr algn="l">
              <a:lnSpc>
                <a:spcPts val="4900"/>
              </a:lnSpc>
            </a:pPr>
            <a:r>
              <a:rPr lang="en-US" sz="3500">
                <a:solidFill>
                  <a:srgbClr val="4294CE"/>
                </a:solidFill>
                <a:latin typeface="Open Sans"/>
                <a:ea typeface="Open Sans"/>
                <a:cs typeface="Open Sans"/>
                <a:sym typeface="Open Sans"/>
              </a:rPr>
              <a:t>Ashar salama</a:t>
            </a:r>
            <a:r>
              <a:rPr lang="en-US" sz="3500">
                <a:solidFill>
                  <a:srgbClr val="4294CE"/>
                </a:solidFill>
                <a:latin typeface="Open Sans"/>
                <a:ea typeface="Open Sans"/>
                <a:cs typeface="Open Sans"/>
                <a:sym typeface="Open Sans"/>
              </a:rPr>
              <a:t> 202200199          Malak Mostafa 202202134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154416" y="573087"/>
            <a:ext cx="15315831" cy="949325"/>
          </a:xfrm>
          <a:prstGeom prst="rect">
            <a:avLst/>
          </a:prstGeom>
        </p:spPr>
        <p:txBody>
          <a:bodyPr anchor="t" rtlCol="false" tIns="0" lIns="0" bIns="0" rIns="0">
            <a:spAutoFit/>
          </a:bodyPr>
          <a:lstStyle/>
          <a:p>
            <a:pPr algn="ctr">
              <a:lnSpc>
                <a:spcPts val="7150"/>
              </a:lnSpc>
            </a:pPr>
            <a:r>
              <a:rPr lang="en-US" b="true" sz="6500">
                <a:solidFill>
                  <a:srgbClr val="034383"/>
                </a:solidFill>
                <a:latin typeface="Ubuntu Bold"/>
                <a:ea typeface="Ubuntu Bold"/>
                <a:cs typeface="Ubuntu Bold"/>
                <a:sym typeface="Ubuntu Bold"/>
              </a:rPr>
              <a:t>PROJECT OBJECTIVES </a:t>
            </a:r>
          </a:p>
        </p:txBody>
      </p:sp>
      <p:grpSp>
        <p:nvGrpSpPr>
          <p:cNvPr name="Group 3" id="3"/>
          <p:cNvGrpSpPr/>
          <p:nvPr/>
        </p:nvGrpSpPr>
        <p:grpSpPr>
          <a:xfrm rot="-10800000">
            <a:off x="1351526" y="3493434"/>
            <a:ext cx="7833409" cy="6002797"/>
            <a:chOff x="0" y="0"/>
            <a:chExt cx="3295325" cy="2525231"/>
          </a:xfrm>
        </p:grpSpPr>
        <p:sp>
          <p:nvSpPr>
            <p:cNvPr name="Freeform 4" id="4"/>
            <p:cNvSpPr/>
            <p:nvPr/>
          </p:nvSpPr>
          <p:spPr>
            <a:xfrm flipH="false" flipV="false" rot="0">
              <a:off x="0" y="0"/>
              <a:ext cx="3295325" cy="2525231"/>
            </a:xfrm>
            <a:custGeom>
              <a:avLst/>
              <a:gdLst/>
              <a:ahLst/>
              <a:cxnLst/>
              <a:rect r="r" b="b" t="t" l="l"/>
              <a:pathLst>
                <a:path h="2525231" w="3295325">
                  <a:moveTo>
                    <a:pt x="0" y="0"/>
                  </a:moveTo>
                  <a:lnTo>
                    <a:pt x="3295325" y="0"/>
                  </a:lnTo>
                  <a:lnTo>
                    <a:pt x="3295325" y="2525231"/>
                  </a:lnTo>
                  <a:lnTo>
                    <a:pt x="0" y="2525231"/>
                  </a:lnTo>
                  <a:close/>
                </a:path>
              </a:pathLst>
            </a:custGeom>
            <a:solidFill>
              <a:srgbClr val="FBC613"/>
            </a:solidFill>
          </p:spPr>
        </p:sp>
        <p:sp>
          <p:nvSpPr>
            <p:cNvPr name="TextBox 5" id="5"/>
            <p:cNvSpPr txBox="true"/>
            <p:nvPr/>
          </p:nvSpPr>
          <p:spPr>
            <a:xfrm>
              <a:off x="0" y="-38100"/>
              <a:ext cx="3295325" cy="2563331"/>
            </a:xfrm>
            <a:prstGeom prst="rect">
              <a:avLst/>
            </a:prstGeom>
          </p:spPr>
          <p:txBody>
            <a:bodyPr anchor="ctr" rtlCol="false" tIns="50800" lIns="50800" bIns="50800" rIns="50800"/>
            <a:lstStyle/>
            <a:p>
              <a:pPr algn="ctr">
                <a:lnSpc>
                  <a:spcPts val="3295"/>
                </a:lnSpc>
              </a:pPr>
            </a:p>
          </p:txBody>
        </p:sp>
      </p:grpSp>
      <p:grpSp>
        <p:nvGrpSpPr>
          <p:cNvPr name="Group 6" id="6"/>
          <p:cNvGrpSpPr/>
          <p:nvPr/>
        </p:nvGrpSpPr>
        <p:grpSpPr>
          <a:xfrm rot="-10800000">
            <a:off x="1068822" y="3255503"/>
            <a:ext cx="7833409" cy="6002797"/>
            <a:chOff x="0" y="0"/>
            <a:chExt cx="3295325" cy="2525231"/>
          </a:xfrm>
        </p:grpSpPr>
        <p:sp>
          <p:nvSpPr>
            <p:cNvPr name="Freeform 7" id="7"/>
            <p:cNvSpPr/>
            <p:nvPr/>
          </p:nvSpPr>
          <p:spPr>
            <a:xfrm flipH="false" flipV="false" rot="0">
              <a:off x="0" y="0"/>
              <a:ext cx="3295325" cy="2525231"/>
            </a:xfrm>
            <a:custGeom>
              <a:avLst/>
              <a:gdLst/>
              <a:ahLst/>
              <a:cxnLst/>
              <a:rect r="r" b="b" t="t" l="l"/>
              <a:pathLst>
                <a:path h="2525231" w="3295325">
                  <a:moveTo>
                    <a:pt x="0" y="0"/>
                  </a:moveTo>
                  <a:lnTo>
                    <a:pt x="3295325" y="0"/>
                  </a:lnTo>
                  <a:lnTo>
                    <a:pt x="3295325" y="2525231"/>
                  </a:lnTo>
                  <a:lnTo>
                    <a:pt x="0" y="2525231"/>
                  </a:lnTo>
                  <a:close/>
                </a:path>
              </a:pathLst>
            </a:custGeom>
            <a:solidFill>
              <a:srgbClr val="034383"/>
            </a:solidFill>
          </p:spPr>
        </p:sp>
        <p:sp>
          <p:nvSpPr>
            <p:cNvPr name="TextBox 8" id="8"/>
            <p:cNvSpPr txBox="true"/>
            <p:nvPr/>
          </p:nvSpPr>
          <p:spPr>
            <a:xfrm>
              <a:off x="0" y="-38100"/>
              <a:ext cx="3295325" cy="2563331"/>
            </a:xfrm>
            <a:prstGeom prst="rect">
              <a:avLst/>
            </a:prstGeom>
          </p:spPr>
          <p:txBody>
            <a:bodyPr anchor="ctr" rtlCol="false" tIns="50800" lIns="50800" bIns="50800" rIns="50800"/>
            <a:lstStyle/>
            <a:p>
              <a:pPr algn="ctr">
                <a:lnSpc>
                  <a:spcPts val="3295"/>
                </a:lnSpc>
              </a:pPr>
            </a:p>
          </p:txBody>
        </p:sp>
      </p:grpSp>
      <p:grpSp>
        <p:nvGrpSpPr>
          <p:cNvPr name="Group 9" id="9"/>
          <p:cNvGrpSpPr/>
          <p:nvPr/>
        </p:nvGrpSpPr>
        <p:grpSpPr>
          <a:xfrm rot="-10800000">
            <a:off x="1351526" y="2504657"/>
            <a:ext cx="13340479" cy="6499810"/>
            <a:chOff x="0" y="0"/>
            <a:chExt cx="5612016" cy="2734313"/>
          </a:xfrm>
        </p:grpSpPr>
        <p:sp>
          <p:nvSpPr>
            <p:cNvPr name="Freeform 10" id="10"/>
            <p:cNvSpPr/>
            <p:nvPr/>
          </p:nvSpPr>
          <p:spPr>
            <a:xfrm flipH="false" flipV="false" rot="0">
              <a:off x="0" y="0"/>
              <a:ext cx="5612016" cy="2734313"/>
            </a:xfrm>
            <a:custGeom>
              <a:avLst/>
              <a:gdLst/>
              <a:ahLst/>
              <a:cxnLst/>
              <a:rect r="r" b="b" t="t" l="l"/>
              <a:pathLst>
                <a:path h="2734313" w="5612016">
                  <a:moveTo>
                    <a:pt x="0" y="0"/>
                  </a:moveTo>
                  <a:lnTo>
                    <a:pt x="5612016" y="0"/>
                  </a:lnTo>
                  <a:lnTo>
                    <a:pt x="5612016" y="2734313"/>
                  </a:lnTo>
                  <a:lnTo>
                    <a:pt x="0" y="2734313"/>
                  </a:lnTo>
                  <a:close/>
                </a:path>
              </a:pathLst>
            </a:custGeom>
            <a:solidFill>
              <a:srgbClr val="EFEFEF"/>
            </a:solidFill>
          </p:spPr>
        </p:sp>
        <p:sp>
          <p:nvSpPr>
            <p:cNvPr name="TextBox 11" id="11"/>
            <p:cNvSpPr txBox="true"/>
            <p:nvPr/>
          </p:nvSpPr>
          <p:spPr>
            <a:xfrm>
              <a:off x="0" y="-38100"/>
              <a:ext cx="5612016" cy="2772413"/>
            </a:xfrm>
            <a:prstGeom prst="rect">
              <a:avLst/>
            </a:prstGeom>
          </p:spPr>
          <p:txBody>
            <a:bodyPr anchor="ctr" rtlCol="false" tIns="50800" lIns="50800" bIns="50800" rIns="50800"/>
            <a:lstStyle/>
            <a:p>
              <a:pPr algn="ctr">
                <a:lnSpc>
                  <a:spcPts val="3295"/>
                </a:lnSpc>
              </a:pPr>
            </a:p>
          </p:txBody>
        </p:sp>
      </p:grpSp>
      <p:sp>
        <p:nvSpPr>
          <p:cNvPr name="Freeform 12" id="12"/>
          <p:cNvSpPr/>
          <p:nvPr/>
        </p:nvSpPr>
        <p:spPr>
          <a:xfrm flipH="false" flipV="false" rot="5400000">
            <a:off x="11410522" y="-3276512"/>
            <a:ext cx="6562966" cy="7473357"/>
          </a:xfrm>
          <a:custGeom>
            <a:avLst/>
            <a:gdLst/>
            <a:ahLst/>
            <a:cxnLst/>
            <a:rect r="r" b="b" t="t" l="l"/>
            <a:pathLst>
              <a:path h="7473357" w="6562966">
                <a:moveTo>
                  <a:pt x="0" y="0"/>
                </a:moveTo>
                <a:lnTo>
                  <a:pt x="6562966" y="0"/>
                </a:lnTo>
                <a:lnTo>
                  <a:pt x="6562966" y="7473357"/>
                </a:lnTo>
                <a:lnTo>
                  <a:pt x="0" y="74733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3" id="13"/>
          <p:cNvSpPr txBox="true"/>
          <p:nvPr/>
        </p:nvSpPr>
        <p:spPr>
          <a:xfrm rot="0">
            <a:off x="1773618" y="3188828"/>
            <a:ext cx="12496295" cy="4050029"/>
          </a:xfrm>
          <a:prstGeom prst="rect">
            <a:avLst/>
          </a:prstGeom>
        </p:spPr>
        <p:txBody>
          <a:bodyPr anchor="t" rtlCol="false" tIns="0" lIns="0" bIns="0" rIns="0">
            <a:spAutoFit/>
          </a:bodyPr>
          <a:lstStyle/>
          <a:p>
            <a:pPr algn="ctr">
              <a:lnSpc>
                <a:spcPts val="4620"/>
              </a:lnSpc>
            </a:pPr>
            <a:r>
              <a:rPr lang="en-US" sz="3300" b="true">
                <a:solidFill>
                  <a:srgbClr val="2E5A9D"/>
                </a:solidFill>
                <a:latin typeface="Canva Sans Bold"/>
                <a:ea typeface="Canva Sans Bold"/>
                <a:cs typeface="Canva Sans Bold"/>
                <a:sym typeface="Canva Sans Bold"/>
              </a:rPr>
              <a:t>This project focuses on designing a 2.45 GHz helical antenna for CubeSat applications specifically in the ISM band. using CST Studio Suite. The objective is to achieve high gain, circular polarization, and efficient radiation while ensuring the antenna's electromagnetic emissions comply with IEEE SAR safety limits. </a:t>
            </a:r>
          </a:p>
          <a:p>
            <a:pPr algn="ctr">
              <a:lnSpc>
                <a:spcPts val="462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260505" y="1066800"/>
            <a:ext cx="13766990" cy="1854200"/>
          </a:xfrm>
          <a:prstGeom prst="rect">
            <a:avLst/>
          </a:prstGeom>
        </p:spPr>
        <p:txBody>
          <a:bodyPr anchor="t" rtlCol="false" tIns="0" lIns="0" bIns="0" rIns="0">
            <a:spAutoFit/>
          </a:bodyPr>
          <a:lstStyle/>
          <a:p>
            <a:pPr algn="ctr">
              <a:lnSpc>
                <a:spcPts val="7150"/>
              </a:lnSpc>
            </a:pPr>
            <a:r>
              <a:rPr lang="en-US" b="true" sz="6500">
                <a:solidFill>
                  <a:srgbClr val="034383"/>
                </a:solidFill>
                <a:latin typeface="Ubuntu Bold"/>
                <a:ea typeface="Ubuntu Bold"/>
                <a:cs typeface="Ubuntu Bold"/>
                <a:sym typeface="Ubuntu Bold"/>
              </a:rPr>
              <a:t> WHY A HELICAL ANTENNA FOR CUBESATS?</a:t>
            </a:r>
          </a:p>
        </p:txBody>
      </p:sp>
      <p:sp>
        <p:nvSpPr>
          <p:cNvPr name="TextBox 3" id="3"/>
          <p:cNvSpPr txBox="true"/>
          <p:nvPr/>
        </p:nvSpPr>
        <p:spPr>
          <a:xfrm rot="0">
            <a:off x="6110080" y="3154218"/>
            <a:ext cx="6096000" cy="739716"/>
          </a:xfrm>
          <a:prstGeom prst="rect">
            <a:avLst/>
          </a:prstGeom>
        </p:spPr>
        <p:txBody>
          <a:bodyPr anchor="t" rtlCol="false" tIns="0" lIns="0" bIns="0" rIns="0">
            <a:spAutoFit/>
          </a:bodyPr>
          <a:lstStyle/>
          <a:p>
            <a:pPr algn="ctr">
              <a:lnSpc>
                <a:spcPts val="5500"/>
              </a:lnSpc>
            </a:pPr>
            <a:r>
              <a:rPr lang="en-US" b="true" sz="5000">
                <a:solidFill>
                  <a:srgbClr val="FFFFFF"/>
                </a:solidFill>
                <a:latin typeface="Ubuntu Bold"/>
                <a:ea typeface="Ubuntu Bold"/>
                <a:cs typeface="Ubuntu Bold"/>
                <a:sym typeface="Ubuntu Bold"/>
              </a:rPr>
              <a:t>VISION</a:t>
            </a:r>
          </a:p>
        </p:txBody>
      </p:sp>
      <p:grpSp>
        <p:nvGrpSpPr>
          <p:cNvPr name="Group 4" id="4"/>
          <p:cNvGrpSpPr/>
          <p:nvPr/>
        </p:nvGrpSpPr>
        <p:grpSpPr>
          <a:xfrm rot="0">
            <a:off x="1169887" y="-1193305"/>
            <a:ext cx="4364942" cy="2386610"/>
            <a:chOff x="0" y="0"/>
            <a:chExt cx="1149614" cy="628572"/>
          </a:xfrm>
        </p:grpSpPr>
        <p:sp>
          <p:nvSpPr>
            <p:cNvPr name="Freeform 5" id="5"/>
            <p:cNvSpPr/>
            <p:nvPr/>
          </p:nvSpPr>
          <p:spPr>
            <a:xfrm flipH="false" flipV="false" rot="0">
              <a:off x="0" y="0"/>
              <a:ext cx="1149614" cy="628572"/>
            </a:xfrm>
            <a:custGeom>
              <a:avLst/>
              <a:gdLst/>
              <a:ahLst/>
              <a:cxnLst/>
              <a:rect r="r" b="b" t="t" l="l"/>
              <a:pathLst>
                <a:path h="628572" w="1149614">
                  <a:moveTo>
                    <a:pt x="574807" y="628572"/>
                  </a:moveTo>
                  <a:lnTo>
                    <a:pt x="1149614" y="0"/>
                  </a:lnTo>
                  <a:lnTo>
                    <a:pt x="0" y="0"/>
                  </a:lnTo>
                  <a:lnTo>
                    <a:pt x="574807" y="628572"/>
                  </a:lnTo>
                  <a:close/>
                </a:path>
              </a:pathLst>
            </a:custGeom>
            <a:solidFill>
              <a:srgbClr val="FBC613"/>
            </a:solidFill>
          </p:spPr>
        </p:sp>
        <p:sp>
          <p:nvSpPr>
            <p:cNvPr name="TextBox 6" id="6"/>
            <p:cNvSpPr txBox="true"/>
            <p:nvPr/>
          </p:nvSpPr>
          <p:spPr>
            <a:xfrm>
              <a:off x="179627" y="6798"/>
              <a:ext cx="790360" cy="329937"/>
            </a:xfrm>
            <a:prstGeom prst="rect">
              <a:avLst/>
            </a:prstGeom>
          </p:spPr>
          <p:txBody>
            <a:bodyPr anchor="ctr" rtlCol="false" tIns="50800" lIns="50800" bIns="50800" rIns="50800"/>
            <a:lstStyle/>
            <a:p>
              <a:pPr algn="ctr">
                <a:lnSpc>
                  <a:spcPts val="3295"/>
                </a:lnSpc>
              </a:pPr>
            </a:p>
          </p:txBody>
        </p:sp>
      </p:grpSp>
      <p:sp>
        <p:nvSpPr>
          <p:cNvPr name="Freeform 7" id="7"/>
          <p:cNvSpPr/>
          <p:nvPr/>
        </p:nvSpPr>
        <p:spPr>
          <a:xfrm flipH="false" flipV="true" rot="5400000">
            <a:off x="-1247163" y="-160646"/>
            <a:ext cx="4962244" cy="4962244"/>
          </a:xfrm>
          <a:custGeom>
            <a:avLst/>
            <a:gdLst/>
            <a:ahLst/>
            <a:cxnLst/>
            <a:rect r="r" b="b" t="t" l="l"/>
            <a:pathLst>
              <a:path h="4962244" w="4962244">
                <a:moveTo>
                  <a:pt x="0" y="4962244"/>
                </a:moveTo>
                <a:lnTo>
                  <a:pt x="4962244" y="4962244"/>
                </a:lnTo>
                <a:lnTo>
                  <a:pt x="4962244" y="0"/>
                </a:lnTo>
                <a:lnTo>
                  <a:pt x="0" y="0"/>
                </a:lnTo>
                <a:lnTo>
                  <a:pt x="0" y="4962244"/>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8" id="8"/>
          <p:cNvGrpSpPr/>
          <p:nvPr/>
        </p:nvGrpSpPr>
        <p:grpSpPr>
          <a:xfrm rot="0">
            <a:off x="12739092" y="-1291235"/>
            <a:ext cx="4364942" cy="2386610"/>
            <a:chOff x="0" y="0"/>
            <a:chExt cx="1149614" cy="628572"/>
          </a:xfrm>
        </p:grpSpPr>
        <p:sp>
          <p:nvSpPr>
            <p:cNvPr name="Freeform 9" id="9"/>
            <p:cNvSpPr/>
            <p:nvPr/>
          </p:nvSpPr>
          <p:spPr>
            <a:xfrm flipH="false" flipV="false" rot="0">
              <a:off x="0" y="0"/>
              <a:ext cx="1149614" cy="628572"/>
            </a:xfrm>
            <a:custGeom>
              <a:avLst/>
              <a:gdLst/>
              <a:ahLst/>
              <a:cxnLst/>
              <a:rect r="r" b="b" t="t" l="l"/>
              <a:pathLst>
                <a:path h="628572" w="1149614">
                  <a:moveTo>
                    <a:pt x="574807" y="628572"/>
                  </a:moveTo>
                  <a:lnTo>
                    <a:pt x="1149614" y="0"/>
                  </a:lnTo>
                  <a:lnTo>
                    <a:pt x="0" y="0"/>
                  </a:lnTo>
                  <a:lnTo>
                    <a:pt x="574807" y="628572"/>
                  </a:lnTo>
                  <a:close/>
                </a:path>
              </a:pathLst>
            </a:custGeom>
            <a:solidFill>
              <a:srgbClr val="FBC613"/>
            </a:solidFill>
          </p:spPr>
        </p:sp>
        <p:sp>
          <p:nvSpPr>
            <p:cNvPr name="TextBox 10" id="10"/>
            <p:cNvSpPr txBox="true"/>
            <p:nvPr/>
          </p:nvSpPr>
          <p:spPr>
            <a:xfrm>
              <a:off x="179627" y="6798"/>
              <a:ext cx="790360" cy="329937"/>
            </a:xfrm>
            <a:prstGeom prst="rect">
              <a:avLst/>
            </a:prstGeom>
          </p:spPr>
          <p:txBody>
            <a:bodyPr anchor="ctr" rtlCol="false" tIns="50800" lIns="50800" bIns="50800" rIns="50800"/>
            <a:lstStyle/>
            <a:p>
              <a:pPr algn="ctr">
                <a:lnSpc>
                  <a:spcPts val="3295"/>
                </a:lnSpc>
              </a:pPr>
            </a:p>
          </p:txBody>
        </p:sp>
      </p:grpSp>
      <p:sp>
        <p:nvSpPr>
          <p:cNvPr name="Freeform 11" id="11"/>
          <p:cNvSpPr/>
          <p:nvPr/>
        </p:nvSpPr>
        <p:spPr>
          <a:xfrm flipH="false" flipV="false" rot="5400000">
            <a:off x="14572919" y="-160646"/>
            <a:ext cx="4962244" cy="4962244"/>
          </a:xfrm>
          <a:custGeom>
            <a:avLst/>
            <a:gdLst/>
            <a:ahLst/>
            <a:cxnLst/>
            <a:rect r="r" b="b" t="t" l="l"/>
            <a:pathLst>
              <a:path h="4962244" w="4962244">
                <a:moveTo>
                  <a:pt x="0" y="0"/>
                </a:moveTo>
                <a:lnTo>
                  <a:pt x="4962244" y="0"/>
                </a:lnTo>
                <a:lnTo>
                  <a:pt x="4962244" y="4962244"/>
                </a:lnTo>
                <a:lnTo>
                  <a:pt x="0" y="49622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2" id="12"/>
          <p:cNvSpPr txBox="true"/>
          <p:nvPr/>
        </p:nvSpPr>
        <p:spPr>
          <a:xfrm rot="0">
            <a:off x="205259" y="3794761"/>
            <a:ext cx="17054041" cy="1348739"/>
          </a:xfrm>
          <a:prstGeom prst="rect">
            <a:avLst/>
          </a:prstGeom>
        </p:spPr>
        <p:txBody>
          <a:bodyPr anchor="t" rtlCol="false" tIns="0" lIns="0" bIns="0" rIns="0">
            <a:spAutoFit/>
          </a:bodyPr>
          <a:lstStyle/>
          <a:p>
            <a:pPr algn="ctr" marL="842016" indent="-421008" lvl="1">
              <a:lnSpc>
                <a:spcPts val="5460"/>
              </a:lnSpc>
              <a:buFont typeface="Arial"/>
              <a:buChar char="•"/>
            </a:pPr>
            <a:r>
              <a:rPr lang="en-US" b="true" sz="3900">
                <a:solidFill>
                  <a:srgbClr val="2E5A9D"/>
                </a:solidFill>
                <a:latin typeface="Canva Sans Bold"/>
                <a:ea typeface="Canva Sans Bold"/>
                <a:cs typeface="Canva Sans Bold"/>
                <a:sym typeface="Canva Sans Bold"/>
              </a:rPr>
              <a:t>CubeSats requiAre compact, lightweight, and high-performance communication systems.</a:t>
            </a:r>
          </a:p>
        </p:txBody>
      </p:sp>
      <p:sp>
        <p:nvSpPr>
          <p:cNvPr name="TextBox 13" id="13"/>
          <p:cNvSpPr txBox="true"/>
          <p:nvPr/>
        </p:nvSpPr>
        <p:spPr>
          <a:xfrm rot="0">
            <a:off x="205259" y="5276850"/>
            <a:ext cx="17054041" cy="1348739"/>
          </a:xfrm>
          <a:prstGeom prst="rect">
            <a:avLst/>
          </a:prstGeom>
        </p:spPr>
        <p:txBody>
          <a:bodyPr anchor="t" rtlCol="false" tIns="0" lIns="0" bIns="0" rIns="0">
            <a:spAutoFit/>
          </a:bodyPr>
          <a:lstStyle/>
          <a:p>
            <a:pPr algn="ctr" marL="842016" indent="-421008" lvl="1">
              <a:lnSpc>
                <a:spcPts val="5460"/>
              </a:lnSpc>
              <a:buFont typeface="Arial"/>
              <a:buChar char="•"/>
            </a:pPr>
            <a:r>
              <a:rPr lang="en-US" b="true" sz="3900">
                <a:solidFill>
                  <a:srgbClr val="2E5A9D"/>
                </a:solidFill>
                <a:latin typeface="Canva Sans Bold"/>
                <a:ea typeface="Canva Sans Bold"/>
                <a:cs typeface="Canva Sans Bold"/>
                <a:sym typeface="Canva Sans Bold"/>
              </a:rPr>
              <a:t>Helical antennas provide high gain, circular polarization, and directional radiation which is ideal for space links.</a:t>
            </a:r>
          </a:p>
        </p:txBody>
      </p:sp>
      <p:sp>
        <p:nvSpPr>
          <p:cNvPr name="TextBox 14" id="14"/>
          <p:cNvSpPr txBox="true"/>
          <p:nvPr/>
        </p:nvSpPr>
        <p:spPr>
          <a:xfrm rot="0">
            <a:off x="205259" y="6758939"/>
            <a:ext cx="17054041" cy="1348739"/>
          </a:xfrm>
          <a:prstGeom prst="rect">
            <a:avLst/>
          </a:prstGeom>
        </p:spPr>
        <p:txBody>
          <a:bodyPr anchor="t" rtlCol="false" tIns="0" lIns="0" bIns="0" rIns="0">
            <a:spAutoFit/>
          </a:bodyPr>
          <a:lstStyle/>
          <a:p>
            <a:pPr algn="ctr" marL="842016" indent="-421008" lvl="1">
              <a:lnSpc>
                <a:spcPts val="5460"/>
              </a:lnSpc>
              <a:buFont typeface="Arial"/>
              <a:buChar char="•"/>
            </a:pPr>
            <a:r>
              <a:rPr lang="en-US" b="true" sz="3900">
                <a:solidFill>
                  <a:srgbClr val="2E5A9D"/>
                </a:solidFill>
                <a:latin typeface="Canva Sans Bold"/>
                <a:ea typeface="Canva Sans Bold"/>
                <a:cs typeface="Canva Sans Bold"/>
                <a:sym typeface="Canva Sans Bold"/>
              </a:rPr>
              <a:t>2.45 GHz chosen due to its allocation in the ISM/S-band, commonly used for satellite communications.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013022" y="1057275"/>
            <a:ext cx="14290115" cy="2204086"/>
          </a:xfrm>
          <a:prstGeom prst="rect">
            <a:avLst/>
          </a:prstGeom>
        </p:spPr>
        <p:txBody>
          <a:bodyPr anchor="t" rtlCol="false" tIns="0" lIns="0" bIns="0" rIns="0">
            <a:spAutoFit/>
          </a:bodyPr>
          <a:lstStyle/>
          <a:p>
            <a:pPr algn="ctr">
              <a:lnSpc>
                <a:spcPts val="6600"/>
              </a:lnSpc>
            </a:pPr>
            <a:r>
              <a:rPr lang="en-US" b="true" sz="6000">
                <a:solidFill>
                  <a:srgbClr val="034383"/>
                </a:solidFill>
                <a:latin typeface="Ubuntu Bold"/>
                <a:ea typeface="Ubuntu Bold"/>
                <a:cs typeface="Ubuntu Bold"/>
                <a:sym typeface="Ubuntu Bold"/>
              </a:rPr>
              <a:t>HOW DOES A HELICAL ANTENNA WORK?</a:t>
            </a:r>
          </a:p>
          <a:p>
            <a:pPr algn="ctr">
              <a:lnSpc>
                <a:spcPts val="3960"/>
              </a:lnSpc>
            </a:pPr>
          </a:p>
        </p:txBody>
      </p:sp>
      <p:sp>
        <p:nvSpPr>
          <p:cNvPr name="TextBox 3" id="3"/>
          <p:cNvSpPr txBox="true"/>
          <p:nvPr/>
        </p:nvSpPr>
        <p:spPr>
          <a:xfrm rot="0">
            <a:off x="6110080" y="3154218"/>
            <a:ext cx="6096000" cy="739716"/>
          </a:xfrm>
          <a:prstGeom prst="rect">
            <a:avLst/>
          </a:prstGeom>
        </p:spPr>
        <p:txBody>
          <a:bodyPr anchor="t" rtlCol="false" tIns="0" lIns="0" bIns="0" rIns="0">
            <a:spAutoFit/>
          </a:bodyPr>
          <a:lstStyle/>
          <a:p>
            <a:pPr algn="ctr">
              <a:lnSpc>
                <a:spcPts val="5500"/>
              </a:lnSpc>
            </a:pPr>
            <a:r>
              <a:rPr lang="en-US" b="true" sz="5000">
                <a:solidFill>
                  <a:srgbClr val="FFFFFF"/>
                </a:solidFill>
                <a:latin typeface="Ubuntu Bold"/>
                <a:ea typeface="Ubuntu Bold"/>
                <a:cs typeface="Ubuntu Bold"/>
                <a:sym typeface="Ubuntu Bold"/>
              </a:rPr>
              <a:t>VISION</a:t>
            </a:r>
          </a:p>
        </p:txBody>
      </p:sp>
      <p:grpSp>
        <p:nvGrpSpPr>
          <p:cNvPr name="Group 4" id="4"/>
          <p:cNvGrpSpPr/>
          <p:nvPr/>
        </p:nvGrpSpPr>
        <p:grpSpPr>
          <a:xfrm rot="0">
            <a:off x="1169887" y="-1193305"/>
            <a:ext cx="4364942" cy="2386610"/>
            <a:chOff x="0" y="0"/>
            <a:chExt cx="1149614" cy="628572"/>
          </a:xfrm>
        </p:grpSpPr>
        <p:sp>
          <p:nvSpPr>
            <p:cNvPr name="Freeform 5" id="5"/>
            <p:cNvSpPr/>
            <p:nvPr/>
          </p:nvSpPr>
          <p:spPr>
            <a:xfrm flipH="false" flipV="false" rot="0">
              <a:off x="0" y="0"/>
              <a:ext cx="1149614" cy="628572"/>
            </a:xfrm>
            <a:custGeom>
              <a:avLst/>
              <a:gdLst/>
              <a:ahLst/>
              <a:cxnLst/>
              <a:rect r="r" b="b" t="t" l="l"/>
              <a:pathLst>
                <a:path h="628572" w="1149614">
                  <a:moveTo>
                    <a:pt x="574807" y="628572"/>
                  </a:moveTo>
                  <a:lnTo>
                    <a:pt x="1149614" y="0"/>
                  </a:lnTo>
                  <a:lnTo>
                    <a:pt x="0" y="0"/>
                  </a:lnTo>
                  <a:lnTo>
                    <a:pt x="574807" y="628572"/>
                  </a:lnTo>
                  <a:close/>
                </a:path>
              </a:pathLst>
            </a:custGeom>
            <a:solidFill>
              <a:srgbClr val="FBC613"/>
            </a:solidFill>
          </p:spPr>
        </p:sp>
        <p:sp>
          <p:nvSpPr>
            <p:cNvPr name="TextBox 6" id="6"/>
            <p:cNvSpPr txBox="true"/>
            <p:nvPr/>
          </p:nvSpPr>
          <p:spPr>
            <a:xfrm>
              <a:off x="179627" y="6798"/>
              <a:ext cx="790360" cy="329937"/>
            </a:xfrm>
            <a:prstGeom prst="rect">
              <a:avLst/>
            </a:prstGeom>
          </p:spPr>
          <p:txBody>
            <a:bodyPr anchor="ctr" rtlCol="false" tIns="50800" lIns="50800" bIns="50800" rIns="50800"/>
            <a:lstStyle/>
            <a:p>
              <a:pPr algn="ctr">
                <a:lnSpc>
                  <a:spcPts val="3295"/>
                </a:lnSpc>
              </a:pPr>
            </a:p>
          </p:txBody>
        </p:sp>
      </p:grpSp>
      <p:sp>
        <p:nvSpPr>
          <p:cNvPr name="Freeform 7" id="7"/>
          <p:cNvSpPr/>
          <p:nvPr/>
        </p:nvSpPr>
        <p:spPr>
          <a:xfrm flipH="false" flipV="true" rot="5400000">
            <a:off x="-1247163" y="-160646"/>
            <a:ext cx="4962244" cy="4962244"/>
          </a:xfrm>
          <a:custGeom>
            <a:avLst/>
            <a:gdLst/>
            <a:ahLst/>
            <a:cxnLst/>
            <a:rect r="r" b="b" t="t" l="l"/>
            <a:pathLst>
              <a:path h="4962244" w="4962244">
                <a:moveTo>
                  <a:pt x="0" y="4962244"/>
                </a:moveTo>
                <a:lnTo>
                  <a:pt x="4962244" y="4962244"/>
                </a:lnTo>
                <a:lnTo>
                  <a:pt x="4962244" y="0"/>
                </a:lnTo>
                <a:lnTo>
                  <a:pt x="0" y="0"/>
                </a:lnTo>
                <a:lnTo>
                  <a:pt x="0" y="4962244"/>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8" id="8"/>
          <p:cNvGrpSpPr/>
          <p:nvPr/>
        </p:nvGrpSpPr>
        <p:grpSpPr>
          <a:xfrm rot="0">
            <a:off x="12739092" y="-1291235"/>
            <a:ext cx="4364942" cy="2386610"/>
            <a:chOff x="0" y="0"/>
            <a:chExt cx="1149614" cy="628572"/>
          </a:xfrm>
        </p:grpSpPr>
        <p:sp>
          <p:nvSpPr>
            <p:cNvPr name="Freeform 9" id="9"/>
            <p:cNvSpPr/>
            <p:nvPr/>
          </p:nvSpPr>
          <p:spPr>
            <a:xfrm flipH="false" flipV="false" rot="0">
              <a:off x="0" y="0"/>
              <a:ext cx="1149614" cy="628572"/>
            </a:xfrm>
            <a:custGeom>
              <a:avLst/>
              <a:gdLst/>
              <a:ahLst/>
              <a:cxnLst/>
              <a:rect r="r" b="b" t="t" l="l"/>
              <a:pathLst>
                <a:path h="628572" w="1149614">
                  <a:moveTo>
                    <a:pt x="574807" y="628572"/>
                  </a:moveTo>
                  <a:lnTo>
                    <a:pt x="1149614" y="0"/>
                  </a:lnTo>
                  <a:lnTo>
                    <a:pt x="0" y="0"/>
                  </a:lnTo>
                  <a:lnTo>
                    <a:pt x="574807" y="628572"/>
                  </a:lnTo>
                  <a:close/>
                </a:path>
              </a:pathLst>
            </a:custGeom>
            <a:solidFill>
              <a:srgbClr val="FBC613"/>
            </a:solidFill>
          </p:spPr>
        </p:sp>
        <p:sp>
          <p:nvSpPr>
            <p:cNvPr name="TextBox 10" id="10"/>
            <p:cNvSpPr txBox="true"/>
            <p:nvPr/>
          </p:nvSpPr>
          <p:spPr>
            <a:xfrm>
              <a:off x="179627" y="6798"/>
              <a:ext cx="790360" cy="329937"/>
            </a:xfrm>
            <a:prstGeom prst="rect">
              <a:avLst/>
            </a:prstGeom>
          </p:spPr>
          <p:txBody>
            <a:bodyPr anchor="ctr" rtlCol="false" tIns="50800" lIns="50800" bIns="50800" rIns="50800"/>
            <a:lstStyle/>
            <a:p>
              <a:pPr algn="ctr">
                <a:lnSpc>
                  <a:spcPts val="3295"/>
                </a:lnSpc>
              </a:pPr>
            </a:p>
          </p:txBody>
        </p:sp>
      </p:grpSp>
      <p:sp>
        <p:nvSpPr>
          <p:cNvPr name="Freeform 11" id="11"/>
          <p:cNvSpPr/>
          <p:nvPr/>
        </p:nvSpPr>
        <p:spPr>
          <a:xfrm flipH="false" flipV="false" rot="5400000">
            <a:off x="14572919" y="-160646"/>
            <a:ext cx="4962244" cy="4962244"/>
          </a:xfrm>
          <a:custGeom>
            <a:avLst/>
            <a:gdLst/>
            <a:ahLst/>
            <a:cxnLst/>
            <a:rect r="r" b="b" t="t" l="l"/>
            <a:pathLst>
              <a:path h="4962244" w="4962244">
                <a:moveTo>
                  <a:pt x="0" y="0"/>
                </a:moveTo>
                <a:lnTo>
                  <a:pt x="4962244" y="0"/>
                </a:lnTo>
                <a:lnTo>
                  <a:pt x="4962244" y="4962244"/>
                </a:lnTo>
                <a:lnTo>
                  <a:pt x="0" y="49622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2" id="12"/>
          <p:cNvSpPr txBox="true"/>
          <p:nvPr/>
        </p:nvSpPr>
        <p:spPr>
          <a:xfrm rot="0">
            <a:off x="355417" y="2883053"/>
            <a:ext cx="17054041" cy="6835139"/>
          </a:xfrm>
          <a:prstGeom prst="rect">
            <a:avLst/>
          </a:prstGeom>
        </p:spPr>
        <p:txBody>
          <a:bodyPr anchor="t" rtlCol="false" tIns="0" lIns="0" bIns="0" rIns="0">
            <a:spAutoFit/>
          </a:bodyPr>
          <a:lstStyle/>
          <a:p>
            <a:pPr algn="ctr" marL="842016" indent="-421008" lvl="1">
              <a:lnSpc>
                <a:spcPts val="5460"/>
              </a:lnSpc>
              <a:buFont typeface="Arial"/>
              <a:buChar char="•"/>
            </a:pPr>
            <a:r>
              <a:rPr lang="en-US" b="true" sz="3900">
                <a:solidFill>
                  <a:srgbClr val="2E5A9D"/>
                </a:solidFill>
                <a:latin typeface="Canva Sans Bold"/>
                <a:ea typeface="Canva Sans Bold"/>
                <a:cs typeface="Canva Sans Bold"/>
                <a:sym typeface="Canva Sans Bold"/>
              </a:rPr>
              <a:t>A helical antenna is made of a conducting wire wound in the shape of a helix, like a spring, and mounted over a ground plane. It's usually fed with a coaxial cable. These antennas are popular for satellite and space communications due to their unique radiation properties</a:t>
            </a:r>
          </a:p>
          <a:p>
            <a:pPr algn="ctr" marL="842016" indent="-421008" lvl="1">
              <a:lnSpc>
                <a:spcPts val="5460"/>
              </a:lnSpc>
              <a:buFont typeface="Arial"/>
              <a:buChar char="•"/>
            </a:pPr>
            <a:r>
              <a:rPr lang="en-US" b="true" sz="3900">
                <a:solidFill>
                  <a:srgbClr val="2E5A9D"/>
                </a:solidFill>
                <a:latin typeface="Canva Sans Bold"/>
                <a:ea typeface="Canva Sans Bold"/>
                <a:cs typeface="Canva Sans Bold"/>
                <a:sym typeface="Canva Sans Bold"/>
              </a:rPr>
              <a:t>When we excite the antenna using a coaxial cable or a two-wire transmission line, current flows through the helical wire. This current generates electromagnetic field lines, which then radiate energy into space. The shape of the helix affects how these fields behave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013022" y="1057275"/>
            <a:ext cx="14290115" cy="2204086"/>
          </a:xfrm>
          <a:prstGeom prst="rect">
            <a:avLst/>
          </a:prstGeom>
        </p:spPr>
        <p:txBody>
          <a:bodyPr anchor="t" rtlCol="false" tIns="0" lIns="0" bIns="0" rIns="0">
            <a:spAutoFit/>
          </a:bodyPr>
          <a:lstStyle/>
          <a:p>
            <a:pPr algn="ctr">
              <a:lnSpc>
                <a:spcPts val="6600"/>
              </a:lnSpc>
            </a:pPr>
            <a:r>
              <a:rPr lang="en-US" b="true" sz="6000">
                <a:solidFill>
                  <a:srgbClr val="034383"/>
                </a:solidFill>
                <a:latin typeface="Ubuntu Bold"/>
                <a:ea typeface="Ubuntu Bold"/>
                <a:cs typeface="Ubuntu Bold"/>
                <a:sym typeface="Ubuntu Bold"/>
              </a:rPr>
              <a:t>HOW DOES A HELICAL ANTENNA WORK?</a:t>
            </a:r>
          </a:p>
          <a:p>
            <a:pPr algn="ctr">
              <a:lnSpc>
                <a:spcPts val="3960"/>
              </a:lnSpc>
            </a:pPr>
          </a:p>
        </p:txBody>
      </p:sp>
      <p:sp>
        <p:nvSpPr>
          <p:cNvPr name="TextBox 3" id="3"/>
          <p:cNvSpPr txBox="true"/>
          <p:nvPr/>
        </p:nvSpPr>
        <p:spPr>
          <a:xfrm rot="0">
            <a:off x="6110080" y="3154218"/>
            <a:ext cx="6096000" cy="739716"/>
          </a:xfrm>
          <a:prstGeom prst="rect">
            <a:avLst/>
          </a:prstGeom>
        </p:spPr>
        <p:txBody>
          <a:bodyPr anchor="t" rtlCol="false" tIns="0" lIns="0" bIns="0" rIns="0">
            <a:spAutoFit/>
          </a:bodyPr>
          <a:lstStyle/>
          <a:p>
            <a:pPr algn="ctr">
              <a:lnSpc>
                <a:spcPts val="5500"/>
              </a:lnSpc>
            </a:pPr>
            <a:r>
              <a:rPr lang="en-US" b="true" sz="5000">
                <a:solidFill>
                  <a:srgbClr val="FFFFFF"/>
                </a:solidFill>
                <a:latin typeface="Ubuntu Bold"/>
                <a:ea typeface="Ubuntu Bold"/>
                <a:cs typeface="Ubuntu Bold"/>
                <a:sym typeface="Ubuntu Bold"/>
              </a:rPr>
              <a:t>VISION</a:t>
            </a:r>
          </a:p>
        </p:txBody>
      </p:sp>
      <p:grpSp>
        <p:nvGrpSpPr>
          <p:cNvPr name="Group 4" id="4"/>
          <p:cNvGrpSpPr/>
          <p:nvPr/>
        </p:nvGrpSpPr>
        <p:grpSpPr>
          <a:xfrm rot="0">
            <a:off x="1169887" y="-1193305"/>
            <a:ext cx="4364942" cy="2386610"/>
            <a:chOff x="0" y="0"/>
            <a:chExt cx="1149614" cy="628572"/>
          </a:xfrm>
        </p:grpSpPr>
        <p:sp>
          <p:nvSpPr>
            <p:cNvPr name="Freeform 5" id="5"/>
            <p:cNvSpPr/>
            <p:nvPr/>
          </p:nvSpPr>
          <p:spPr>
            <a:xfrm flipH="false" flipV="false" rot="0">
              <a:off x="0" y="0"/>
              <a:ext cx="1149614" cy="628572"/>
            </a:xfrm>
            <a:custGeom>
              <a:avLst/>
              <a:gdLst/>
              <a:ahLst/>
              <a:cxnLst/>
              <a:rect r="r" b="b" t="t" l="l"/>
              <a:pathLst>
                <a:path h="628572" w="1149614">
                  <a:moveTo>
                    <a:pt x="574807" y="628572"/>
                  </a:moveTo>
                  <a:lnTo>
                    <a:pt x="1149614" y="0"/>
                  </a:lnTo>
                  <a:lnTo>
                    <a:pt x="0" y="0"/>
                  </a:lnTo>
                  <a:lnTo>
                    <a:pt x="574807" y="628572"/>
                  </a:lnTo>
                  <a:close/>
                </a:path>
              </a:pathLst>
            </a:custGeom>
            <a:solidFill>
              <a:srgbClr val="FBC613"/>
            </a:solidFill>
          </p:spPr>
        </p:sp>
        <p:sp>
          <p:nvSpPr>
            <p:cNvPr name="TextBox 6" id="6"/>
            <p:cNvSpPr txBox="true"/>
            <p:nvPr/>
          </p:nvSpPr>
          <p:spPr>
            <a:xfrm>
              <a:off x="179627" y="6798"/>
              <a:ext cx="790360" cy="329937"/>
            </a:xfrm>
            <a:prstGeom prst="rect">
              <a:avLst/>
            </a:prstGeom>
          </p:spPr>
          <p:txBody>
            <a:bodyPr anchor="ctr" rtlCol="false" tIns="50800" lIns="50800" bIns="50800" rIns="50800"/>
            <a:lstStyle/>
            <a:p>
              <a:pPr algn="ctr">
                <a:lnSpc>
                  <a:spcPts val="3295"/>
                </a:lnSpc>
              </a:pPr>
            </a:p>
          </p:txBody>
        </p:sp>
      </p:grpSp>
      <p:sp>
        <p:nvSpPr>
          <p:cNvPr name="Freeform 7" id="7"/>
          <p:cNvSpPr/>
          <p:nvPr/>
        </p:nvSpPr>
        <p:spPr>
          <a:xfrm flipH="false" flipV="true" rot="5400000">
            <a:off x="-1247163" y="-160646"/>
            <a:ext cx="4962244" cy="4962244"/>
          </a:xfrm>
          <a:custGeom>
            <a:avLst/>
            <a:gdLst/>
            <a:ahLst/>
            <a:cxnLst/>
            <a:rect r="r" b="b" t="t" l="l"/>
            <a:pathLst>
              <a:path h="4962244" w="4962244">
                <a:moveTo>
                  <a:pt x="0" y="4962244"/>
                </a:moveTo>
                <a:lnTo>
                  <a:pt x="4962244" y="4962244"/>
                </a:lnTo>
                <a:lnTo>
                  <a:pt x="4962244" y="0"/>
                </a:lnTo>
                <a:lnTo>
                  <a:pt x="0" y="0"/>
                </a:lnTo>
                <a:lnTo>
                  <a:pt x="0" y="4962244"/>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8" id="8"/>
          <p:cNvGrpSpPr/>
          <p:nvPr/>
        </p:nvGrpSpPr>
        <p:grpSpPr>
          <a:xfrm rot="0">
            <a:off x="12739092" y="-1291235"/>
            <a:ext cx="4364942" cy="2386610"/>
            <a:chOff x="0" y="0"/>
            <a:chExt cx="1149614" cy="628572"/>
          </a:xfrm>
        </p:grpSpPr>
        <p:sp>
          <p:nvSpPr>
            <p:cNvPr name="Freeform 9" id="9"/>
            <p:cNvSpPr/>
            <p:nvPr/>
          </p:nvSpPr>
          <p:spPr>
            <a:xfrm flipH="false" flipV="false" rot="0">
              <a:off x="0" y="0"/>
              <a:ext cx="1149614" cy="628572"/>
            </a:xfrm>
            <a:custGeom>
              <a:avLst/>
              <a:gdLst/>
              <a:ahLst/>
              <a:cxnLst/>
              <a:rect r="r" b="b" t="t" l="l"/>
              <a:pathLst>
                <a:path h="628572" w="1149614">
                  <a:moveTo>
                    <a:pt x="574807" y="628572"/>
                  </a:moveTo>
                  <a:lnTo>
                    <a:pt x="1149614" y="0"/>
                  </a:lnTo>
                  <a:lnTo>
                    <a:pt x="0" y="0"/>
                  </a:lnTo>
                  <a:lnTo>
                    <a:pt x="574807" y="628572"/>
                  </a:lnTo>
                  <a:close/>
                </a:path>
              </a:pathLst>
            </a:custGeom>
            <a:solidFill>
              <a:srgbClr val="FBC613"/>
            </a:solidFill>
          </p:spPr>
        </p:sp>
        <p:sp>
          <p:nvSpPr>
            <p:cNvPr name="TextBox 10" id="10"/>
            <p:cNvSpPr txBox="true"/>
            <p:nvPr/>
          </p:nvSpPr>
          <p:spPr>
            <a:xfrm>
              <a:off x="179627" y="6798"/>
              <a:ext cx="790360" cy="329937"/>
            </a:xfrm>
            <a:prstGeom prst="rect">
              <a:avLst/>
            </a:prstGeom>
          </p:spPr>
          <p:txBody>
            <a:bodyPr anchor="ctr" rtlCol="false" tIns="50800" lIns="50800" bIns="50800" rIns="50800"/>
            <a:lstStyle/>
            <a:p>
              <a:pPr algn="ctr">
                <a:lnSpc>
                  <a:spcPts val="3295"/>
                </a:lnSpc>
              </a:pPr>
            </a:p>
          </p:txBody>
        </p:sp>
      </p:grpSp>
      <p:sp>
        <p:nvSpPr>
          <p:cNvPr name="Freeform 11" id="11"/>
          <p:cNvSpPr/>
          <p:nvPr/>
        </p:nvSpPr>
        <p:spPr>
          <a:xfrm flipH="false" flipV="false" rot="5400000">
            <a:off x="14572919" y="-160646"/>
            <a:ext cx="4962244" cy="4962244"/>
          </a:xfrm>
          <a:custGeom>
            <a:avLst/>
            <a:gdLst/>
            <a:ahLst/>
            <a:cxnLst/>
            <a:rect r="r" b="b" t="t" l="l"/>
            <a:pathLst>
              <a:path h="4962244" w="4962244">
                <a:moveTo>
                  <a:pt x="0" y="0"/>
                </a:moveTo>
                <a:lnTo>
                  <a:pt x="4962244" y="0"/>
                </a:lnTo>
                <a:lnTo>
                  <a:pt x="4962244" y="4962244"/>
                </a:lnTo>
                <a:lnTo>
                  <a:pt x="0" y="49622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2" id="12"/>
          <p:cNvSpPr txBox="true"/>
          <p:nvPr/>
        </p:nvSpPr>
        <p:spPr>
          <a:xfrm rot="0">
            <a:off x="219867" y="2892578"/>
            <a:ext cx="17907294" cy="6945982"/>
          </a:xfrm>
          <a:prstGeom prst="rect">
            <a:avLst/>
          </a:prstGeom>
        </p:spPr>
        <p:txBody>
          <a:bodyPr anchor="t" rtlCol="false" tIns="0" lIns="0" bIns="0" rIns="0">
            <a:spAutoFit/>
          </a:bodyPr>
          <a:lstStyle/>
          <a:p>
            <a:pPr algn="l" marL="712436" indent="-356218" lvl="1">
              <a:lnSpc>
                <a:spcPts val="4619"/>
              </a:lnSpc>
              <a:buFont typeface="Arial"/>
              <a:buChar char="•"/>
            </a:pPr>
            <a:r>
              <a:rPr lang="en-US" b="true" sz="3299">
                <a:solidFill>
                  <a:srgbClr val="2E5A9D"/>
                </a:solidFill>
                <a:latin typeface="Canva Sans Bold"/>
                <a:ea typeface="Canva Sans Bold"/>
                <a:cs typeface="Canva Sans Bold"/>
                <a:sym typeface="Canva Sans Bold"/>
              </a:rPr>
              <a:t>A helical antenna can operate in two main modes, depending on its physical dimensions and the frequency used."</a:t>
            </a:r>
          </a:p>
          <a:p>
            <a:pPr algn="l">
              <a:lnSpc>
                <a:spcPts val="4619"/>
              </a:lnSpc>
            </a:pPr>
            <a:r>
              <a:rPr lang="en-US" sz="3299" b="true">
                <a:solidFill>
                  <a:srgbClr val="2E5A9D"/>
                </a:solidFill>
                <a:latin typeface="Canva Sans Bold"/>
                <a:ea typeface="Canva Sans Bold"/>
                <a:cs typeface="Canva Sans Bold"/>
                <a:sym typeface="Canva Sans Bold"/>
              </a:rPr>
              <a:t>✅ Normal Mode Occurs when the diameter and pitch (spacing between turns) are small compared to the wavelength.</a:t>
            </a:r>
          </a:p>
          <a:p>
            <a:pPr algn="l">
              <a:lnSpc>
                <a:spcPts val="4619"/>
              </a:lnSpc>
            </a:pPr>
            <a:r>
              <a:rPr lang="en-US" sz="3299" b="true">
                <a:solidFill>
                  <a:srgbClr val="2E5A9D"/>
                </a:solidFill>
                <a:latin typeface="Canva Sans Bold"/>
                <a:ea typeface="Canva Sans Bold"/>
                <a:cs typeface="Canva Sans Bold"/>
                <a:sym typeface="Canva Sans Bold"/>
              </a:rPr>
              <a:t>Radiation pattern: Similar to a dipole (broadside – perpendicular to the helix axis).</a:t>
            </a:r>
          </a:p>
          <a:p>
            <a:pPr algn="l">
              <a:lnSpc>
                <a:spcPts val="4619"/>
              </a:lnSpc>
            </a:pPr>
            <a:r>
              <a:rPr lang="en-US" sz="3299" b="true">
                <a:solidFill>
                  <a:srgbClr val="2E5A9D"/>
                </a:solidFill>
                <a:latin typeface="Canva Sans Bold"/>
                <a:ea typeface="Canva Sans Bold"/>
                <a:cs typeface="Canva Sans Bold"/>
                <a:sym typeface="Canva Sans Bold"/>
              </a:rPr>
              <a:t>Used for: Mobile communication.</a:t>
            </a:r>
          </a:p>
          <a:p>
            <a:pPr algn="l">
              <a:lnSpc>
                <a:spcPts val="4619"/>
              </a:lnSpc>
            </a:pPr>
          </a:p>
          <a:p>
            <a:pPr algn="l">
              <a:lnSpc>
                <a:spcPts val="4619"/>
              </a:lnSpc>
            </a:pPr>
            <a:r>
              <a:rPr lang="en-US" sz="3299" b="true">
                <a:solidFill>
                  <a:srgbClr val="2E5A9D"/>
                </a:solidFill>
                <a:latin typeface="Canva Sans Bold"/>
                <a:ea typeface="Canva Sans Bold"/>
                <a:cs typeface="Canva Sans Bold"/>
                <a:sym typeface="Canva Sans Bold"/>
              </a:rPr>
              <a:t>✅ Axial Mode</a:t>
            </a:r>
          </a:p>
          <a:p>
            <a:pPr algn="l">
              <a:lnSpc>
                <a:spcPts val="4619"/>
              </a:lnSpc>
            </a:pPr>
            <a:r>
              <a:rPr lang="en-US" sz="3299" b="true">
                <a:solidFill>
                  <a:srgbClr val="2E5A9D"/>
                </a:solidFill>
                <a:latin typeface="Canva Sans Bold"/>
                <a:ea typeface="Canva Sans Bold"/>
                <a:cs typeface="Canva Sans Bold"/>
                <a:sym typeface="Canva Sans Bold"/>
              </a:rPr>
              <a:t>Happens w</a:t>
            </a:r>
            <a:r>
              <a:rPr lang="en-US" sz="3299" b="true">
                <a:solidFill>
                  <a:srgbClr val="2E5A9D"/>
                </a:solidFill>
                <a:latin typeface="Canva Sans Bold"/>
                <a:ea typeface="Canva Sans Bold"/>
                <a:cs typeface="Canva Sans Bold"/>
                <a:sym typeface="Canva Sans Bold"/>
              </a:rPr>
              <a:t>hen the diameter and pitch are comparable to the wavelength.</a:t>
            </a:r>
          </a:p>
          <a:p>
            <a:pPr algn="l">
              <a:lnSpc>
                <a:spcPts val="4619"/>
              </a:lnSpc>
            </a:pPr>
            <a:r>
              <a:rPr lang="en-US" sz="3299" b="true">
                <a:solidFill>
                  <a:srgbClr val="2E5A9D"/>
                </a:solidFill>
                <a:latin typeface="Canva Sans Bold"/>
                <a:ea typeface="Canva Sans Bold"/>
                <a:cs typeface="Canva Sans Bold"/>
                <a:sym typeface="Canva Sans Bold"/>
              </a:rPr>
              <a:t>Radiation pattern: Along the axis of the helix (end-fire).</a:t>
            </a:r>
          </a:p>
          <a:p>
            <a:pPr algn="l">
              <a:lnSpc>
                <a:spcPts val="4619"/>
              </a:lnSpc>
            </a:pPr>
            <a:r>
              <a:rPr lang="en-US" sz="3299" b="true">
                <a:solidFill>
                  <a:srgbClr val="2E5A9D"/>
                </a:solidFill>
                <a:latin typeface="Canva Sans Bold"/>
                <a:ea typeface="Canva Sans Bold"/>
                <a:cs typeface="Canva Sans Bold"/>
                <a:sym typeface="Canva Sans Bold"/>
              </a:rPr>
              <a:t>Produces circularly polarized waves, which is great for satellite links.</a:t>
            </a:r>
          </a:p>
          <a:p>
            <a:pPr algn="l">
              <a:lnSpc>
                <a:spcPts val="4619"/>
              </a:lnSpc>
            </a:pPr>
            <a:r>
              <a:rPr lang="en-US" sz="3299" b="true">
                <a:solidFill>
                  <a:srgbClr val="2E5A9D"/>
                </a:solidFill>
                <a:latin typeface="Canva Sans Bold"/>
                <a:ea typeface="Canva Sans Bold"/>
                <a:cs typeface="Canva Sans Bold"/>
                <a:sym typeface="Canva Sans Bold"/>
              </a:rPr>
              <a:t>Used for: Satellite and space communication.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243679" y="1358471"/>
            <a:ext cx="15584786" cy="855980"/>
          </a:xfrm>
          <a:prstGeom prst="rect">
            <a:avLst/>
          </a:prstGeom>
        </p:spPr>
        <p:txBody>
          <a:bodyPr anchor="t" rtlCol="false" tIns="0" lIns="0" bIns="0" rIns="0">
            <a:spAutoFit/>
          </a:bodyPr>
          <a:lstStyle/>
          <a:p>
            <a:pPr algn="ctr">
              <a:lnSpc>
                <a:spcPts val="6490"/>
              </a:lnSpc>
            </a:pPr>
            <a:r>
              <a:rPr lang="en-US" b="true" sz="5900">
                <a:solidFill>
                  <a:srgbClr val="034383"/>
                </a:solidFill>
                <a:latin typeface="Ubuntu Bold"/>
                <a:ea typeface="Ubuntu Bold"/>
                <a:cs typeface="Ubuntu Bold"/>
                <a:sym typeface="Ubuntu Bold"/>
              </a:rPr>
              <a:t>ANTENNA DESIGN </a:t>
            </a:r>
          </a:p>
        </p:txBody>
      </p:sp>
      <p:sp>
        <p:nvSpPr>
          <p:cNvPr name="Freeform 3" id="3"/>
          <p:cNvSpPr/>
          <p:nvPr/>
        </p:nvSpPr>
        <p:spPr>
          <a:xfrm flipH="true" flipV="false" rot="-5400000">
            <a:off x="-374109" y="-864327"/>
            <a:ext cx="6157558" cy="6157558"/>
          </a:xfrm>
          <a:custGeom>
            <a:avLst/>
            <a:gdLst/>
            <a:ahLst/>
            <a:cxnLst/>
            <a:rect r="r" b="b" t="t" l="l"/>
            <a:pathLst>
              <a:path h="6157558" w="6157558">
                <a:moveTo>
                  <a:pt x="6157557" y="0"/>
                </a:moveTo>
                <a:lnTo>
                  <a:pt x="0" y="0"/>
                </a:lnTo>
                <a:lnTo>
                  <a:pt x="0" y="6157557"/>
                </a:lnTo>
                <a:lnTo>
                  <a:pt x="6157557" y="6157557"/>
                </a:lnTo>
                <a:lnTo>
                  <a:pt x="615755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5400000">
            <a:off x="12814394" y="6970349"/>
            <a:ext cx="6157558" cy="6157558"/>
          </a:xfrm>
          <a:custGeom>
            <a:avLst/>
            <a:gdLst/>
            <a:ahLst/>
            <a:cxnLst/>
            <a:rect r="r" b="b" t="t" l="l"/>
            <a:pathLst>
              <a:path h="6157558" w="6157558">
                <a:moveTo>
                  <a:pt x="0" y="6157558"/>
                </a:moveTo>
                <a:lnTo>
                  <a:pt x="6157558" y="6157558"/>
                </a:lnTo>
                <a:lnTo>
                  <a:pt x="6157558" y="0"/>
                </a:lnTo>
                <a:lnTo>
                  <a:pt x="0" y="0"/>
                </a:lnTo>
                <a:lnTo>
                  <a:pt x="0" y="615755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018829" y="782991"/>
            <a:ext cx="9269171" cy="4990357"/>
          </a:xfrm>
          <a:custGeom>
            <a:avLst/>
            <a:gdLst/>
            <a:ahLst/>
            <a:cxnLst/>
            <a:rect r="r" b="b" t="t" l="l"/>
            <a:pathLst>
              <a:path h="4990357" w="9269171">
                <a:moveTo>
                  <a:pt x="0" y="0"/>
                </a:moveTo>
                <a:lnTo>
                  <a:pt x="9269171" y="0"/>
                </a:lnTo>
                <a:lnTo>
                  <a:pt x="9269171" y="4990358"/>
                </a:lnTo>
                <a:lnTo>
                  <a:pt x="0" y="4990358"/>
                </a:lnTo>
                <a:lnTo>
                  <a:pt x="0" y="0"/>
                </a:lnTo>
                <a:close/>
              </a:path>
            </a:pathLst>
          </a:custGeom>
          <a:blipFill>
            <a:blip r:embed="rId4"/>
            <a:stretch>
              <a:fillRect l="0" t="-382" r="0" b="-382"/>
            </a:stretch>
          </a:blipFill>
        </p:spPr>
      </p:sp>
      <p:sp>
        <p:nvSpPr>
          <p:cNvPr name="TextBox 6" id="6"/>
          <p:cNvSpPr txBox="true"/>
          <p:nvPr/>
        </p:nvSpPr>
        <p:spPr>
          <a:xfrm rot="0">
            <a:off x="554099" y="5282189"/>
            <a:ext cx="7837647" cy="755015"/>
          </a:xfrm>
          <a:prstGeom prst="rect">
            <a:avLst/>
          </a:prstGeom>
        </p:spPr>
        <p:txBody>
          <a:bodyPr anchor="t" rtlCol="false" tIns="0" lIns="0" bIns="0" rIns="0">
            <a:spAutoFit/>
          </a:bodyPr>
          <a:lstStyle/>
          <a:p>
            <a:pPr algn="ctr">
              <a:lnSpc>
                <a:spcPts val="6160"/>
              </a:lnSpc>
            </a:pPr>
            <a:r>
              <a:rPr lang="en-US" sz="4400" b="true">
                <a:solidFill>
                  <a:srgbClr val="034383"/>
                </a:solidFill>
                <a:latin typeface="Canva Sans Bold"/>
                <a:ea typeface="Canva Sans Bold"/>
                <a:cs typeface="Canva Sans Bold"/>
                <a:sym typeface="Canva Sans Bold"/>
              </a:rPr>
              <a:t>D2(Helix Diameter)=2.377 cm</a:t>
            </a:r>
          </a:p>
        </p:txBody>
      </p:sp>
      <p:sp>
        <p:nvSpPr>
          <p:cNvPr name="TextBox 7" id="7"/>
          <p:cNvSpPr txBox="true"/>
          <p:nvPr/>
        </p:nvSpPr>
        <p:spPr>
          <a:xfrm rot="0">
            <a:off x="401699" y="5951479"/>
            <a:ext cx="12620745" cy="755015"/>
          </a:xfrm>
          <a:prstGeom prst="rect">
            <a:avLst/>
          </a:prstGeom>
        </p:spPr>
        <p:txBody>
          <a:bodyPr anchor="t" rtlCol="false" tIns="0" lIns="0" bIns="0" rIns="0">
            <a:spAutoFit/>
          </a:bodyPr>
          <a:lstStyle/>
          <a:p>
            <a:pPr algn="ctr">
              <a:lnSpc>
                <a:spcPts val="6160"/>
              </a:lnSpc>
            </a:pPr>
            <a:r>
              <a:rPr lang="en-US" sz="4400" b="true">
                <a:solidFill>
                  <a:srgbClr val="034383"/>
                </a:solidFill>
                <a:latin typeface="Canva Sans Bold"/>
                <a:ea typeface="Canva Sans Bold"/>
                <a:cs typeface="Canva Sans Bold"/>
                <a:sym typeface="Canva Sans Bold"/>
              </a:rPr>
              <a:t> D3(diameter of the shielded enclosure)=10cm</a:t>
            </a:r>
          </a:p>
        </p:txBody>
      </p:sp>
      <p:sp>
        <p:nvSpPr>
          <p:cNvPr name="TextBox 8" id="8"/>
          <p:cNvSpPr txBox="true"/>
          <p:nvPr/>
        </p:nvSpPr>
        <p:spPr>
          <a:xfrm rot="0">
            <a:off x="296508" y="6887469"/>
            <a:ext cx="12241531" cy="755015"/>
          </a:xfrm>
          <a:prstGeom prst="rect">
            <a:avLst/>
          </a:prstGeom>
        </p:spPr>
        <p:txBody>
          <a:bodyPr anchor="t" rtlCol="false" tIns="0" lIns="0" bIns="0" rIns="0">
            <a:spAutoFit/>
          </a:bodyPr>
          <a:lstStyle/>
          <a:p>
            <a:pPr algn="ctr">
              <a:lnSpc>
                <a:spcPts val="6160"/>
              </a:lnSpc>
            </a:pPr>
            <a:r>
              <a:rPr lang="en-US" sz="4400" b="true">
                <a:solidFill>
                  <a:srgbClr val="034383"/>
                </a:solidFill>
                <a:latin typeface="Canva Sans Bold"/>
                <a:ea typeface="Canva Sans Bold"/>
                <a:cs typeface="Canva Sans Bold"/>
                <a:sym typeface="Canva Sans Bold"/>
              </a:rPr>
              <a:t> D4(diameter of the central conductor)=2mm</a:t>
            </a:r>
          </a:p>
        </p:txBody>
      </p:sp>
      <p:sp>
        <p:nvSpPr>
          <p:cNvPr name="TextBox 9" id="9"/>
          <p:cNvSpPr txBox="true"/>
          <p:nvPr/>
        </p:nvSpPr>
        <p:spPr>
          <a:xfrm rot="0">
            <a:off x="-645945" y="7722235"/>
            <a:ext cx="15893173" cy="1536065"/>
          </a:xfrm>
          <a:prstGeom prst="rect">
            <a:avLst/>
          </a:prstGeom>
        </p:spPr>
        <p:txBody>
          <a:bodyPr anchor="t" rtlCol="false" tIns="0" lIns="0" bIns="0" rIns="0">
            <a:spAutoFit/>
          </a:bodyPr>
          <a:lstStyle/>
          <a:p>
            <a:pPr algn="ctr">
              <a:lnSpc>
                <a:spcPts val="6160"/>
              </a:lnSpc>
            </a:pPr>
            <a:r>
              <a:rPr lang="en-US" sz="4400" b="true">
                <a:solidFill>
                  <a:srgbClr val="034383"/>
                </a:solidFill>
                <a:latin typeface="Canva Sans Bold"/>
                <a:ea typeface="Canva Sans Bold"/>
                <a:cs typeface="Canva Sans Bold"/>
                <a:sym typeface="Canva Sans Bold"/>
              </a:rPr>
              <a:t>Design Mode: Axial mode (for directional radiation)</a:t>
            </a:r>
          </a:p>
          <a:p>
            <a:pPr algn="ctr">
              <a:lnSpc>
                <a:spcPts val="6160"/>
              </a:lnSpc>
            </a:pPr>
          </a:p>
        </p:txBody>
      </p:sp>
      <p:sp>
        <p:nvSpPr>
          <p:cNvPr name="TextBox 10" id="10"/>
          <p:cNvSpPr txBox="true"/>
          <p:nvPr/>
        </p:nvSpPr>
        <p:spPr>
          <a:xfrm rot="0">
            <a:off x="448908" y="4388485"/>
            <a:ext cx="5986462" cy="755015"/>
          </a:xfrm>
          <a:prstGeom prst="rect">
            <a:avLst/>
          </a:prstGeom>
        </p:spPr>
        <p:txBody>
          <a:bodyPr anchor="t" rtlCol="false" tIns="0" lIns="0" bIns="0" rIns="0">
            <a:spAutoFit/>
          </a:bodyPr>
          <a:lstStyle/>
          <a:p>
            <a:pPr algn="ctr">
              <a:lnSpc>
                <a:spcPts val="6160"/>
              </a:lnSpc>
            </a:pPr>
            <a:r>
              <a:rPr lang="en-US" sz="4400" b="true">
                <a:solidFill>
                  <a:srgbClr val="034383"/>
                </a:solidFill>
                <a:latin typeface="Canva Sans Bold"/>
                <a:ea typeface="Canva Sans Bold"/>
                <a:cs typeface="Canva Sans Bold"/>
                <a:sym typeface="Canva Sans Bold"/>
              </a:rPr>
              <a:t>N(Number of turns)=5</a:t>
            </a:r>
          </a:p>
        </p:txBody>
      </p:sp>
      <p:sp>
        <p:nvSpPr>
          <p:cNvPr name="TextBox 11" id="11"/>
          <p:cNvSpPr txBox="true"/>
          <p:nvPr/>
        </p:nvSpPr>
        <p:spPr>
          <a:xfrm rot="0">
            <a:off x="-374109" y="8750935"/>
            <a:ext cx="13003549" cy="1536065"/>
          </a:xfrm>
          <a:prstGeom prst="rect">
            <a:avLst/>
          </a:prstGeom>
        </p:spPr>
        <p:txBody>
          <a:bodyPr anchor="t" rtlCol="false" tIns="0" lIns="0" bIns="0" rIns="0">
            <a:spAutoFit/>
          </a:bodyPr>
          <a:lstStyle/>
          <a:p>
            <a:pPr algn="ctr">
              <a:lnSpc>
                <a:spcPts val="6160"/>
              </a:lnSpc>
            </a:pPr>
            <a:r>
              <a:rPr lang="en-US" sz="4400" b="true">
                <a:solidFill>
                  <a:srgbClr val="034383"/>
                </a:solidFill>
                <a:latin typeface="Canva Sans Bold"/>
                <a:ea typeface="Canva Sans Bold"/>
                <a:cs typeface="Canva Sans Bold"/>
                <a:sym typeface="Canva Sans Bold"/>
              </a:rPr>
              <a:t>Operating Frequency: 2.45 GHz (ISM band)</a:t>
            </a:r>
          </a:p>
          <a:p>
            <a:pPr algn="ctr">
              <a:lnSpc>
                <a:spcPts val="616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892127" y="1608758"/>
            <a:ext cx="15702433" cy="792480"/>
          </a:xfrm>
          <a:prstGeom prst="rect">
            <a:avLst/>
          </a:prstGeom>
        </p:spPr>
        <p:txBody>
          <a:bodyPr anchor="t" rtlCol="false" tIns="0" lIns="0" bIns="0" rIns="0">
            <a:spAutoFit/>
          </a:bodyPr>
          <a:lstStyle/>
          <a:p>
            <a:pPr algn="l">
              <a:lnSpc>
                <a:spcPts val="5940"/>
              </a:lnSpc>
            </a:pPr>
            <a:r>
              <a:rPr lang="en-US" sz="5400" b="true">
                <a:solidFill>
                  <a:srgbClr val="034383"/>
                </a:solidFill>
                <a:latin typeface="Ubuntu Bold"/>
                <a:ea typeface="Ubuntu Bold"/>
                <a:cs typeface="Ubuntu Bold"/>
                <a:sym typeface="Ubuntu Bold"/>
              </a:rPr>
              <a:t>S₁₁ PARAMETER – REFLECTION COEFFICIENT</a:t>
            </a:r>
          </a:p>
        </p:txBody>
      </p:sp>
      <p:grpSp>
        <p:nvGrpSpPr>
          <p:cNvPr name="Group 3" id="3"/>
          <p:cNvGrpSpPr/>
          <p:nvPr/>
        </p:nvGrpSpPr>
        <p:grpSpPr>
          <a:xfrm rot="0">
            <a:off x="2764867" y="-699889"/>
            <a:ext cx="16931738" cy="1533898"/>
            <a:chOff x="0" y="0"/>
            <a:chExt cx="4459388" cy="403990"/>
          </a:xfrm>
        </p:grpSpPr>
        <p:sp>
          <p:nvSpPr>
            <p:cNvPr name="Freeform 4" id="4"/>
            <p:cNvSpPr/>
            <p:nvPr/>
          </p:nvSpPr>
          <p:spPr>
            <a:xfrm flipH="false" flipV="false" rot="0">
              <a:off x="0" y="0"/>
              <a:ext cx="4459388" cy="403990"/>
            </a:xfrm>
            <a:custGeom>
              <a:avLst/>
              <a:gdLst/>
              <a:ahLst/>
              <a:cxnLst/>
              <a:rect r="r" b="b" t="t" l="l"/>
              <a:pathLst>
                <a:path h="403990" w="4459388">
                  <a:moveTo>
                    <a:pt x="0" y="0"/>
                  </a:moveTo>
                  <a:lnTo>
                    <a:pt x="4459388" y="0"/>
                  </a:lnTo>
                  <a:lnTo>
                    <a:pt x="4459388" y="403990"/>
                  </a:lnTo>
                  <a:lnTo>
                    <a:pt x="0" y="403990"/>
                  </a:lnTo>
                  <a:close/>
                </a:path>
              </a:pathLst>
            </a:custGeom>
            <a:solidFill>
              <a:srgbClr val="034383"/>
            </a:solidFill>
          </p:spPr>
        </p:sp>
        <p:sp>
          <p:nvSpPr>
            <p:cNvPr name="TextBox 5" id="5"/>
            <p:cNvSpPr txBox="true"/>
            <p:nvPr/>
          </p:nvSpPr>
          <p:spPr>
            <a:xfrm>
              <a:off x="0" y="-38100"/>
              <a:ext cx="4459388" cy="442090"/>
            </a:xfrm>
            <a:prstGeom prst="rect">
              <a:avLst/>
            </a:prstGeom>
          </p:spPr>
          <p:txBody>
            <a:bodyPr anchor="ctr" rtlCol="false" tIns="50800" lIns="50800" bIns="50800" rIns="50800"/>
            <a:lstStyle/>
            <a:p>
              <a:pPr algn="ctr">
                <a:lnSpc>
                  <a:spcPts val="3295"/>
                </a:lnSpc>
              </a:pPr>
            </a:p>
          </p:txBody>
        </p:sp>
      </p:grpSp>
      <p:grpSp>
        <p:nvGrpSpPr>
          <p:cNvPr name="Group 6" id="6"/>
          <p:cNvGrpSpPr/>
          <p:nvPr/>
        </p:nvGrpSpPr>
        <p:grpSpPr>
          <a:xfrm rot="-5400000">
            <a:off x="-5015057" y="4582096"/>
            <a:ext cx="10698089" cy="1533898"/>
            <a:chOff x="0" y="0"/>
            <a:chExt cx="2817604" cy="403990"/>
          </a:xfrm>
        </p:grpSpPr>
        <p:sp>
          <p:nvSpPr>
            <p:cNvPr name="Freeform 7" id="7"/>
            <p:cNvSpPr/>
            <p:nvPr/>
          </p:nvSpPr>
          <p:spPr>
            <a:xfrm flipH="false" flipV="false" rot="0">
              <a:off x="0" y="0"/>
              <a:ext cx="2817604" cy="403990"/>
            </a:xfrm>
            <a:custGeom>
              <a:avLst/>
              <a:gdLst/>
              <a:ahLst/>
              <a:cxnLst/>
              <a:rect r="r" b="b" t="t" l="l"/>
              <a:pathLst>
                <a:path h="403990" w="2817604">
                  <a:moveTo>
                    <a:pt x="0" y="0"/>
                  </a:moveTo>
                  <a:lnTo>
                    <a:pt x="2817604" y="0"/>
                  </a:lnTo>
                  <a:lnTo>
                    <a:pt x="2817604" y="403990"/>
                  </a:lnTo>
                  <a:lnTo>
                    <a:pt x="0" y="403990"/>
                  </a:lnTo>
                  <a:close/>
                </a:path>
              </a:pathLst>
            </a:custGeom>
            <a:solidFill>
              <a:srgbClr val="034383"/>
            </a:solidFill>
          </p:spPr>
        </p:sp>
        <p:sp>
          <p:nvSpPr>
            <p:cNvPr name="TextBox 8" id="8"/>
            <p:cNvSpPr txBox="true"/>
            <p:nvPr/>
          </p:nvSpPr>
          <p:spPr>
            <a:xfrm>
              <a:off x="0" y="-38100"/>
              <a:ext cx="2817604" cy="442090"/>
            </a:xfrm>
            <a:prstGeom prst="rect">
              <a:avLst/>
            </a:prstGeom>
          </p:spPr>
          <p:txBody>
            <a:bodyPr anchor="ctr" rtlCol="false" tIns="50800" lIns="50800" bIns="50800" rIns="50800"/>
            <a:lstStyle/>
            <a:p>
              <a:pPr algn="ctr">
                <a:lnSpc>
                  <a:spcPts val="3295"/>
                </a:lnSpc>
              </a:pPr>
            </a:p>
          </p:txBody>
        </p:sp>
      </p:grpSp>
      <p:sp>
        <p:nvSpPr>
          <p:cNvPr name="Freeform 9" id="9"/>
          <p:cNvSpPr/>
          <p:nvPr/>
        </p:nvSpPr>
        <p:spPr>
          <a:xfrm flipH="false" flipV="false" rot="0">
            <a:off x="-47625" y="-16348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09775" y="3073234"/>
            <a:ext cx="14845603" cy="4140532"/>
          </a:xfrm>
          <a:custGeom>
            <a:avLst/>
            <a:gdLst/>
            <a:ahLst/>
            <a:cxnLst/>
            <a:rect r="r" b="b" t="t" l="l"/>
            <a:pathLst>
              <a:path h="4140532" w="14845603">
                <a:moveTo>
                  <a:pt x="0" y="0"/>
                </a:moveTo>
                <a:lnTo>
                  <a:pt x="14845603" y="0"/>
                </a:lnTo>
                <a:lnTo>
                  <a:pt x="14845603" y="4140532"/>
                </a:lnTo>
                <a:lnTo>
                  <a:pt x="0" y="4140532"/>
                </a:lnTo>
                <a:lnTo>
                  <a:pt x="0" y="0"/>
                </a:lnTo>
                <a:close/>
              </a:path>
            </a:pathLst>
          </a:custGeom>
          <a:blipFill>
            <a:blip r:embed="rId4"/>
            <a:stretch>
              <a:fillRect l="0" t="0" r="0" b="0"/>
            </a:stretch>
          </a:blipFill>
        </p:spPr>
      </p:sp>
      <p:sp>
        <p:nvSpPr>
          <p:cNvPr name="TextBox 11" id="11"/>
          <p:cNvSpPr txBox="true"/>
          <p:nvPr/>
        </p:nvSpPr>
        <p:spPr>
          <a:xfrm rot="0">
            <a:off x="1515359" y="7870991"/>
            <a:ext cx="14845603" cy="1393824"/>
          </a:xfrm>
          <a:prstGeom prst="rect">
            <a:avLst/>
          </a:prstGeom>
        </p:spPr>
        <p:txBody>
          <a:bodyPr anchor="t" rtlCol="false" tIns="0" lIns="0" bIns="0" rIns="0">
            <a:spAutoFit/>
          </a:bodyPr>
          <a:lstStyle/>
          <a:p>
            <a:pPr algn="ctr">
              <a:lnSpc>
                <a:spcPts val="5600"/>
              </a:lnSpc>
            </a:pPr>
            <a:r>
              <a:rPr lang="en-US" sz="4000" b="true">
                <a:solidFill>
                  <a:srgbClr val="034383"/>
                </a:solidFill>
                <a:latin typeface="Canva Sans Bold"/>
                <a:ea typeface="Canva Sans Bold"/>
                <a:cs typeface="Canva Sans Bold"/>
                <a:sym typeface="Canva Sans Bold"/>
              </a:rPr>
              <a:t>S₁₁ = -37.6 dB at 2.45 GHz → Very good impedance match, low reflection, efficient energy transfer.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0" y="1057275"/>
            <a:ext cx="15608202" cy="792480"/>
          </a:xfrm>
          <a:prstGeom prst="rect">
            <a:avLst/>
          </a:prstGeom>
        </p:spPr>
        <p:txBody>
          <a:bodyPr anchor="t" rtlCol="false" tIns="0" lIns="0" bIns="0" rIns="0">
            <a:spAutoFit/>
          </a:bodyPr>
          <a:lstStyle/>
          <a:p>
            <a:pPr algn="ctr">
              <a:lnSpc>
                <a:spcPts val="5940"/>
              </a:lnSpc>
            </a:pPr>
            <a:r>
              <a:rPr lang="en-US" b="true" sz="5400">
                <a:solidFill>
                  <a:srgbClr val="034383"/>
                </a:solidFill>
                <a:latin typeface="Ubuntu Bold"/>
                <a:ea typeface="Ubuntu Bold"/>
                <a:cs typeface="Ubuntu Bold"/>
                <a:sym typeface="Ubuntu Bold"/>
              </a:rPr>
              <a:t>RADIATION PATTERNS  AT  2.45 </a:t>
            </a:r>
            <a:r>
              <a:rPr lang="en-US" sz="5400" b="true">
                <a:solidFill>
                  <a:srgbClr val="034383"/>
                </a:solidFill>
                <a:latin typeface="Ubuntu Bold"/>
                <a:ea typeface="Ubuntu Bold"/>
                <a:cs typeface="Ubuntu Bold"/>
                <a:sym typeface="Ubuntu Bold"/>
              </a:rPr>
              <a:t>GHz</a:t>
            </a:r>
          </a:p>
        </p:txBody>
      </p:sp>
      <p:sp>
        <p:nvSpPr>
          <p:cNvPr name="Freeform 3" id="3"/>
          <p:cNvSpPr/>
          <p:nvPr/>
        </p:nvSpPr>
        <p:spPr>
          <a:xfrm flipH="false" flipV="false" rot="0">
            <a:off x="-3742954" y="3070488"/>
            <a:ext cx="21243196" cy="6041034"/>
          </a:xfrm>
          <a:custGeom>
            <a:avLst/>
            <a:gdLst/>
            <a:ahLst/>
            <a:cxnLst/>
            <a:rect r="r" b="b" t="t" l="l"/>
            <a:pathLst>
              <a:path h="6041034" w="21243196">
                <a:moveTo>
                  <a:pt x="0" y="0"/>
                </a:moveTo>
                <a:lnTo>
                  <a:pt x="21243196" y="0"/>
                </a:lnTo>
                <a:lnTo>
                  <a:pt x="21243196" y="6041034"/>
                </a:lnTo>
                <a:lnTo>
                  <a:pt x="0" y="6041034"/>
                </a:lnTo>
                <a:lnTo>
                  <a:pt x="0" y="0"/>
                </a:lnTo>
                <a:close/>
              </a:path>
            </a:pathLst>
          </a:custGeom>
          <a:blipFill>
            <a:blip r:embed="rId2"/>
            <a:stretch>
              <a:fillRect l="0" t="0" r="0" b="0"/>
            </a:stretch>
          </a:blipFill>
        </p:spPr>
      </p:sp>
      <p:sp>
        <p:nvSpPr>
          <p:cNvPr name="Freeform 4" id="4"/>
          <p:cNvSpPr/>
          <p:nvPr/>
        </p:nvSpPr>
        <p:spPr>
          <a:xfrm flipH="false" flipV="false" rot="0">
            <a:off x="-484415" y="659562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5" id="5"/>
          <p:cNvSpPr/>
          <p:nvPr/>
        </p:nvSpPr>
        <p:spPr>
          <a:xfrm flipH="true" flipV="true" rot="0">
            <a:off x="14657615" y="-42342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536765" y="1395936"/>
            <a:ext cx="15584786" cy="1675130"/>
          </a:xfrm>
          <a:prstGeom prst="rect">
            <a:avLst/>
          </a:prstGeom>
        </p:spPr>
        <p:txBody>
          <a:bodyPr anchor="t" rtlCol="false" tIns="0" lIns="0" bIns="0" rIns="0">
            <a:spAutoFit/>
          </a:bodyPr>
          <a:lstStyle/>
          <a:p>
            <a:pPr algn="ctr">
              <a:lnSpc>
                <a:spcPts val="6490"/>
              </a:lnSpc>
            </a:pPr>
            <a:r>
              <a:rPr lang="en-US" b="true" sz="5900">
                <a:solidFill>
                  <a:srgbClr val="034383"/>
                </a:solidFill>
                <a:latin typeface="Ubuntu Bold"/>
                <a:ea typeface="Ubuntu Bold"/>
                <a:cs typeface="Ubuntu Bold"/>
                <a:sym typeface="Ubuntu Bold"/>
              </a:rPr>
              <a:t>FAR-FIELD RADIATION PATTERN OF A HELICAL ANTENNA </a:t>
            </a:r>
          </a:p>
        </p:txBody>
      </p:sp>
      <p:sp>
        <p:nvSpPr>
          <p:cNvPr name="Freeform 3" id="3"/>
          <p:cNvSpPr/>
          <p:nvPr/>
        </p:nvSpPr>
        <p:spPr>
          <a:xfrm flipH="true" flipV="false" rot="-5400000">
            <a:off x="-374109" y="-864327"/>
            <a:ext cx="6157558" cy="6157558"/>
          </a:xfrm>
          <a:custGeom>
            <a:avLst/>
            <a:gdLst/>
            <a:ahLst/>
            <a:cxnLst/>
            <a:rect r="r" b="b" t="t" l="l"/>
            <a:pathLst>
              <a:path h="6157558" w="6157558">
                <a:moveTo>
                  <a:pt x="6157557" y="0"/>
                </a:moveTo>
                <a:lnTo>
                  <a:pt x="0" y="0"/>
                </a:lnTo>
                <a:lnTo>
                  <a:pt x="0" y="6157557"/>
                </a:lnTo>
                <a:lnTo>
                  <a:pt x="6157557" y="6157557"/>
                </a:lnTo>
                <a:lnTo>
                  <a:pt x="615755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3408498"/>
            <a:ext cx="19591015" cy="5509973"/>
          </a:xfrm>
          <a:custGeom>
            <a:avLst/>
            <a:gdLst/>
            <a:ahLst/>
            <a:cxnLst/>
            <a:rect r="r" b="b" t="t" l="l"/>
            <a:pathLst>
              <a:path h="5509973" w="19591015">
                <a:moveTo>
                  <a:pt x="0" y="0"/>
                </a:moveTo>
                <a:lnTo>
                  <a:pt x="19591015" y="0"/>
                </a:lnTo>
                <a:lnTo>
                  <a:pt x="19591015" y="5509974"/>
                </a:lnTo>
                <a:lnTo>
                  <a:pt x="0" y="5509974"/>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243679" y="1358471"/>
            <a:ext cx="15584786" cy="855980"/>
          </a:xfrm>
          <a:prstGeom prst="rect">
            <a:avLst/>
          </a:prstGeom>
        </p:spPr>
        <p:txBody>
          <a:bodyPr anchor="t" rtlCol="false" tIns="0" lIns="0" bIns="0" rIns="0">
            <a:spAutoFit/>
          </a:bodyPr>
          <a:lstStyle/>
          <a:p>
            <a:pPr algn="ctr">
              <a:lnSpc>
                <a:spcPts val="6490"/>
              </a:lnSpc>
            </a:pPr>
            <a:r>
              <a:rPr lang="en-US" b="true" sz="5900">
                <a:solidFill>
                  <a:srgbClr val="034383"/>
                </a:solidFill>
                <a:latin typeface="Ubuntu Bold"/>
                <a:ea typeface="Ubuntu Bold"/>
                <a:cs typeface="Ubuntu Bold"/>
                <a:sym typeface="Ubuntu Bold"/>
              </a:rPr>
              <a:t>SURFACE CURRENT ANIMATION</a:t>
            </a:r>
          </a:p>
        </p:txBody>
      </p:sp>
      <p:sp>
        <p:nvSpPr>
          <p:cNvPr name="Freeform 3" id="3"/>
          <p:cNvSpPr/>
          <p:nvPr/>
        </p:nvSpPr>
        <p:spPr>
          <a:xfrm flipH="true" flipV="false" rot="-5400000">
            <a:off x="-255217" y="-1758408"/>
            <a:ext cx="6157558" cy="6157558"/>
          </a:xfrm>
          <a:custGeom>
            <a:avLst/>
            <a:gdLst/>
            <a:ahLst/>
            <a:cxnLst/>
            <a:rect r="r" b="b" t="t" l="l"/>
            <a:pathLst>
              <a:path h="6157558" w="6157558">
                <a:moveTo>
                  <a:pt x="6157558" y="0"/>
                </a:moveTo>
                <a:lnTo>
                  <a:pt x="0" y="0"/>
                </a:lnTo>
                <a:lnTo>
                  <a:pt x="0" y="6157558"/>
                </a:lnTo>
                <a:lnTo>
                  <a:pt x="6157558" y="6157558"/>
                </a:lnTo>
                <a:lnTo>
                  <a:pt x="615755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5400000">
            <a:off x="12578835" y="6708874"/>
            <a:ext cx="6157558" cy="6157558"/>
          </a:xfrm>
          <a:custGeom>
            <a:avLst/>
            <a:gdLst/>
            <a:ahLst/>
            <a:cxnLst/>
            <a:rect r="r" b="b" t="t" l="l"/>
            <a:pathLst>
              <a:path h="6157558" w="6157558">
                <a:moveTo>
                  <a:pt x="0" y="6157558"/>
                </a:moveTo>
                <a:lnTo>
                  <a:pt x="6157557" y="6157558"/>
                </a:lnTo>
                <a:lnTo>
                  <a:pt x="6157557" y="0"/>
                </a:lnTo>
                <a:lnTo>
                  <a:pt x="0" y="0"/>
                </a:lnTo>
                <a:lnTo>
                  <a:pt x="0" y="6157558"/>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5" id="5">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0"/>
          <a:stretch>
            <a:fillRect/>
          </a:stretch>
        </p:blipFill>
        <p:spPr>
          <a:xfrm flipH="false" flipV="false" rot="0">
            <a:off x="648245" y="4061896"/>
            <a:ext cx="16230600" cy="4493494"/>
          </a:xfrm>
          <a:prstGeom prst="rect">
            <a:avLst/>
          </a:prstGeom>
        </p:spPr>
      </p:pic>
    </p:spTree>
  </p:cSld>
  <p:clrMapOvr>
    <a:masterClrMapping/>
  </p:clrMapOvr>
  <p:timing>
    <p:tnLst>
      <p:par>
        <p:cTn dur="indefinite" restart="never" nodeType="tmRoot">
          <p:childTnLst>
            <p:video>
              <p:cMediaNode vol="0">
                <p:cTn fill="hold" display="false">
                  <p:stCondLst>
                    <p:cond delay="indefinite"/>
                  </p:stCondLst>
                </p:cTn>
                <p:tgtEl>
                  <p:spTgt spid="5"/>
                </p:tgtEl>
              </p:cMediaNode>
            </p:video>
          </p:childTnLst>
        </p:cTn>
      </p:par>
    </p:tnLst>
  </p:timing>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243679" y="1358471"/>
            <a:ext cx="15584786" cy="855980"/>
          </a:xfrm>
          <a:prstGeom prst="rect">
            <a:avLst/>
          </a:prstGeom>
        </p:spPr>
        <p:txBody>
          <a:bodyPr anchor="t" rtlCol="false" tIns="0" lIns="0" bIns="0" rIns="0">
            <a:spAutoFit/>
          </a:bodyPr>
          <a:lstStyle/>
          <a:p>
            <a:pPr algn="ctr">
              <a:lnSpc>
                <a:spcPts val="6490"/>
              </a:lnSpc>
            </a:pPr>
            <a:r>
              <a:rPr lang="en-US" b="true" sz="5900">
                <a:solidFill>
                  <a:srgbClr val="034383"/>
                </a:solidFill>
                <a:latin typeface="Ubuntu Bold"/>
                <a:ea typeface="Ubuntu Bold"/>
                <a:cs typeface="Ubuntu Bold"/>
                <a:sym typeface="Ubuntu Bold"/>
              </a:rPr>
              <a:t>H-FIELD ANIMATION</a:t>
            </a:r>
          </a:p>
        </p:txBody>
      </p:sp>
      <p:sp>
        <p:nvSpPr>
          <p:cNvPr name="Freeform 3" id="3"/>
          <p:cNvSpPr/>
          <p:nvPr/>
        </p:nvSpPr>
        <p:spPr>
          <a:xfrm flipH="true" flipV="false" rot="-5400000">
            <a:off x="-445445" y="-1758408"/>
            <a:ext cx="6157558" cy="6157558"/>
          </a:xfrm>
          <a:custGeom>
            <a:avLst/>
            <a:gdLst/>
            <a:ahLst/>
            <a:cxnLst/>
            <a:rect r="r" b="b" t="t" l="l"/>
            <a:pathLst>
              <a:path h="6157558" w="6157558">
                <a:moveTo>
                  <a:pt x="6157558" y="0"/>
                </a:moveTo>
                <a:lnTo>
                  <a:pt x="0" y="0"/>
                </a:lnTo>
                <a:lnTo>
                  <a:pt x="0" y="6157558"/>
                </a:lnTo>
                <a:lnTo>
                  <a:pt x="6157558" y="6157558"/>
                </a:lnTo>
                <a:lnTo>
                  <a:pt x="615755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5400000">
            <a:off x="12721505" y="7208221"/>
            <a:ext cx="6157558" cy="6157558"/>
          </a:xfrm>
          <a:custGeom>
            <a:avLst/>
            <a:gdLst/>
            <a:ahLst/>
            <a:cxnLst/>
            <a:rect r="r" b="b" t="t" l="l"/>
            <a:pathLst>
              <a:path h="6157558" w="6157558">
                <a:moveTo>
                  <a:pt x="0" y="6157558"/>
                </a:moveTo>
                <a:lnTo>
                  <a:pt x="6157558" y="6157558"/>
                </a:lnTo>
                <a:lnTo>
                  <a:pt x="6157558" y="0"/>
                </a:lnTo>
                <a:lnTo>
                  <a:pt x="0" y="0"/>
                </a:lnTo>
                <a:lnTo>
                  <a:pt x="0" y="6157558"/>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5" id="5">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0"/>
          <a:stretch>
            <a:fillRect/>
          </a:stretch>
        </p:blipFill>
        <p:spPr>
          <a:xfrm flipH="false" flipV="false" rot="0">
            <a:off x="1028700" y="3734408"/>
            <a:ext cx="16230600" cy="4493494"/>
          </a:xfrm>
          <a:prstGeom prst="rect">
            <a:avLst/>
          </a:prstGeom>
        </p:spPr>
      </p:pic>
    </p:spTree>
  </p:cSld>
  <p:clrMapOvr>
    <a:masterClrMapping/>
  </p:clrMapOvr>
  <p:timing>
    <p:tnLst>
      <p:par>
        <p:cTn dur="indefinite" restart="never" nodeType="tmRoot">
          <p:childTnLst>
            <p:video>
              <p:cMediaNode vol="0">
                <p:cTn fill="hold" display="false">
                  <p:stCondLst>
                    <p:cond delay="indefinite"/>
                  </p:stCondLst>
                </p:cTn>
                <p:tgtEl>
                  <p:spTgt spid="5"/>
                </p:tgtEl>
              </p:cMediaNode>
            </p:video>
          </p:childTnLst>
        </p:cTn>
      </p:par>
    </p:tnLst>
  </p:timing>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395689"/>
            <a:ext cx="15584786" cy="949206"/>
          </a:xfrm>
          <a:prstGeom prst="rect">
            <a:avLst/>
          </a:prstGeom>
        </p:spPr>
        <p:txBody>
          <a:bodyPr anchor="t" rtlCol="false" tIns="0" lIns="0" bIns="0" rIns="0">
            <a:spAutoFit/>
          </a:bodyPr>
          <a:lstStyle/>
          <a:p>
            <a:pPr algn="l">
              <a:lnSpc>
                <a:spcPts val="7150"/>
              </a:lnSpc>
            </a:pPr>
            <a:r>
              <a:rPr lang="en-US" sz="6500" b="true">
                <a:solidFill>
                  <a:srgbClr val="034383"/>
                </a:solidFill>
                <a:latin typeface="Ubuntu Bold"/>
                <a:ea typeface="Ubuntu Bold"/>
                <a:cs typeface="Ubuntu Bold"/>
                <a:sym typeface="Ubuntu Bold"/>
              </a:rPr>
              <a:t>CONCLUSION</a:t>
            </a:r>
          </a:p>
        </p:txBody>
      </p:sp>
      <p:sp>
        <p:nvSpPr>
          <p:cNvPr name="Freeform 3" id="3"/>
          <p:cNvSpPr/>
          <p:nvPr/>
        </p:nvSpPr>
        <p:spPr>
          <a:xfrm flipH="true" flipV="false" rot="0">
            <a:off x="8001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4" id="4"/>
          <p:cNvSpPr txBox="true"/>
          <p:nvPr/>
        </p:nvSpPr>
        <p:spPr>
          <a:xfrm rot="0">
            <a:off x="1414419" y="2896981"/>
            <a:ext cx="13173163" cy="6381750"/>
          </a:xfrm>
          <a:prstGeom prst="rect">
            <a:avLst/>
          </a:prstGeom>
        </p:spPr>
        <p:txBody>
          <a:bodyPr anchor="t" rtlCol="false" tIns="0" lIns="0" bIns="0" rIns="0">
            <a:spAutoFit/>
          </a:bodyPr>
          <a:lstStyle/>
          <a:p>
            <a:pPr algn="just">
              <a:lnSpc>
                <a:spcPts val="4200"/>
              </a:lnSpc>
            </a:pPr>
            <a:r>
              <a:rPr lang="en-US" sz="3000" b="true">
                <a:solidFill>
                  <a:srgbClr val="2E5A9D"/>
                </a:solidFill>
                <a:latin typeface="Open Sans Bold"/>
                <a:ea typeface="Open Sans Bold"/>
                <a:cs typeface="Open Sans Bold"/>
                <a:sym typeface="Open Sans Bold"/>
              </a:rPr>
              <a:t>The design and simulation of the 2.45 GHz helical antenna for CubeSat applications demonstrated its suitability for high-performance communication with a gain of ~8.5 dB and circular polarization</a:t>
            </a:r>
          </a:p>
          <a:p>
            <a:pPr algn="just">
              <a:lnSpc>
                <a:spcPts val="4200"/>
              </a:lnSpc>
            </a:pPr>
            <a:r>
              <a:rPr lang="en-US" sz="3000" b="true">
                <a:solidFill>
                  <a:srgbClr val="2E5A9D"/>
                </a:solidFill>
                <a:latin typeface="Open Sans Bold"/>
                <a:ea typeface="Open Sans Bold"/>
                <a:cs typeface="Open Sans Bold"/>
                <a:sym typeface="Open Sans Bold"/>
              </a:rPr>
              <a:t>1- em power radiated analysis : show well defined main loop in the desired direction </a:t>
            </a:r>
          </a:p>
          <a:p>
            <a:pPr algn="just">
              <a:lnSpc>
                <a:spcPts val="4200"/>
              </a:lnSpc>
            </a:pPr>
            <a:r>
              <a:rPr lang="en-US" sz="3000" b="true">
                <a:solidFill>
                  <a:srgbClr val="2E5A9D"/>
                </a:solidFill>
                <a:latin typeface="Open Sans Bold"/>
                <a:ea typeface="Open Sans Bold"/>
                <a:cs typeface="Open Sans Bold"/>
                <a:sym typeface="Open Sans Bold"/>
              </a:rPr>
              <a:t>2- low side lobe level </a:t>
            </a:r>
          </a:p>
          <a:p>
            <a:pPr algn="just">
              <a:lnSpc>
                <a:spcPts val="4200"/>
              </a:lnSpc>
            </a:pPr>
            <a:r>
              <a:rPr lang="en-US" sz="3000" b="true">
                <a:solidFill>
                  <a:srgbClr val="2E5A9D"/>
                </a:solidFill>
                <a:latin typeface="Open Sans Bold"/>
                <a:ea typeface="Open Sans Bold"/>
                <a:cs typeface="Open Sans Bold"/>
                <a:sym typeface="Open Sans Bold"/>
              </a:rPr>
              <a:t>3- axial ratio analysis around 1</a:t>
            </a:r>
          </a:p>
          <a:p>
            <a:pPr algn="just">
              <a:lnSpc>
                <a:spcPts val="4200"/>
              </a:lnSpc>
            </a:pPr>
            <a:r>
              <a:rPr lang="en-US" sz="3000" b="true">
                <a:solidFill>
                  <a:srgbClr val="2E5A9D"/>
                </a:solidFill>
                <a:latin typeface="Open Sans Bold"/>
                <a:ea typeface="Open Sans Bold"/>
                <a:cs typeface="Open Sans Bold"/>
                <a:sym typeface="Open Sans Bold"/>
              </a:rPr>
              <a:t>4- S11 indicate good impedence </a:t>
            </a:r>
          </a:p>
          <a:p>
            <a:pPr algn="just">
              <a:lnSpc>
                <a:spcPts val="4200"/>
              </a:lnSpc>
            </a:pPr>
            <a:r>
              <a:rPr lang="en-US" sz="3000" b="true">
                <a:solidFill>
                  <a:srgbClr val="2E5A9D"/>
                </a:solidFill>
                <a:latin typeface="Open Sans Bold"/>
                <a:ea typeface="Open Sans Bold"/>
                <a:cs typeface="Open Sans Bold"/>
                <a:sym typeface="Open Sans Bold"/>
              </a:rPr>
              <a:t>5- antenna input impedance around 50 ohm</a:t>
            </a:r>
          </a:p>
          <a:p>
            <a:pPr algn="just">
              <a:lnSpc>
                <a:spcPts val="4200"/>
              </a:lnSpc>
            </a:pPr>
            <a:r>
              <a:rPr lang="en-US" sz="3000" b="true">
                <a:solidFill>
                  <a:srgbClr val="2E5A9D"/>
                </a:solidFill>
                <a:latin typeface="Open Sans Bold"/>
                <a:ea typeface="Open Sans Bold"/>
                <a:cs typeface="Open Sans Bold"/>
                <a:sym typeface="Open Sans Bold"/>
              </a:rPr>
              <a:t>6- high bandwidth </a:t>
            </a:r>
          </a:p>
          <a:p>
            <a:pPr algn="just">
              <a:lnSpc>
                <a:spcPts val="420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395689"/>
            <a:ext cx="15584786" cy="949325"/>
          </a:xfrm>
          <a:prstGeom prst="rect">
            <a:avLst/>
          </a:prstGeom>
        </p:spPr>
        <p:txBody>
          <a:bodyPr anchor="t" rtlCol="false" tIns="0" lIns="0" bIns="0" rIns="0">
            <a:spAutoFit/>
          </a:bodyPr>
          <a:lstStyle/>
          <a:p>
            <a:pPr algn="l">
              <a:lnSpc>
                <a:spcPts val="7150"/>
              </a:lnSpc>
            </a:pPr>
            <a:r>
              <a:rPr lang="en-US" sz="6500" b="true">
                <a:solidFill>
                  <a:srgbClr val="034383"/>
                </a:solidFill>
                <a:latin typeface="Ubuntu Bold"/>
                <a:ea typeface="Ubuntu Bold"/>
                <a:cs typeface="Ubuntu Bold"/>
                <a:sym typeface="Ubuntu Bold"/>
              </a:rPr>
              <a:t>REFERENCES</a:t>
            </a:r>
          </a:p>
        </p:txBody>
      </p:sp>
      <p:sp>
        <p:nvSpPr>
          <p:cNvPr name="Freeform 3" id="3"/>
          <p:cNvSpPr/>
          <p:nvPr/>
        </p:nvSpPr>
        <p:spPr>
          <a:xfrm flipH="true" flipV="false" rot="0">
            <a:off x="-92583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4" id="4"/>
          <p:cNvSpPr txBox="true"/>
          <p:nvPr/>
        </p:nvSpPr>
        <p:spPr>
          <a:xfrm rot="0">
            <a:off x="1414419" y="3028950"/>
            <a:ext cx="13173163" cy="1581150"/>
          </a:xfrm>
          <a:prstGeom prst="rect">
            <a:avLst/>
          </a:prstGeom>
        </p:spPr>
        <p:txBody>
          <a:bodyPr anchor="t" rtlCol="false" tIns="0" lIns="0" bIns="0" rIns="0">
            <a:spAutoFit/>
          </a:bodyPr>
          <a:lstStyle/>
          <a:p>
            <a:pPr algn="just" marL="647700" indent="-323850" lvl="1">
              <a:lnSpc>
                <a:spcPts val="4200"/>
              </a:lnSpc>
              <a:buFont typeface="Arial"/>
              <a:buChar char="•"/>
            </a:pPr>
            <a:r>
              <a:rPr lang="en-US" b="true" sz="3000" u="sng">
                <a:solidFill>
                  <a:srgbClr val="2E5A9D"/>
                </a:solidFill>
                <a:latin typeface="Open Sans Bold"/>
                <a:ea typeface="Open Sans Bold"/>
                <a:cs typeface="Open Sans Bold"/>
                <a:sym typeface="Open Sans Bold"/>
                <a:hlinkClick r:id="rId4" tooltip="https://www.ijcrt.org/papers/IJCRTAO02028.pdf"/>
              </a:rPr>
              <a:t>M. C. Rajalakshmi, K. Y. Charan, U. Nandan, and K. S. Rakesh, "Design of Helical Antenna for CubeSat Using CST Tool," Int. J. Creative Res. Thoughts, vol. 12, no. 9, pp. 149–154, Sep. 2024.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84185" y="9084495"/>
            <a:ext cx="20343527" cy="1533898"/>
            <a:chOff x="0" y="0"/>
            <a:chExt cx="5357966" cy="403990"/>
          </a:xfrm>
        </p:grpSpPr>
        <p:sp>
          <p:nvSpPr>
            <p:cNvPr name="Freeform 3" id="3"/>
            <p:cNvSpPr/>
            <p:nvPr/>
          </p:nvSpPr>
          <p:spPr>
            <a:xfrm flipH="false" flipV="false" rot="0">
              <a:off x="0" y="0"/>
              <a:ext cx="5357966" cy="403990"/>
            </a:xfrm>
            <a:custGeom>
              <a:avLst/>
              <a:gdLst/>
              <a:ahLst/>
              <a:cxnLst/>
              <a:rect r="r" b="b" t="t" l="l"/>
              <a:pathLst>
                <a:path h="403990" w="5357966">
                  <a:moveTo>
                    <a:pt x="0" y="0"/>
                  </a:moveTo>
                  <a:lnTo>
                    <a:pt x="5357966" y="0"/>
                  </a:lnTo>
                  <a:lnTo>
                    <a:pt x="5357966" y="403990"/>
                  </a:lnTo>
                  <a:lnTo>
                    <a:pt x="0" y="403990"/>
                  </a:lnTo>
                  <a:close/>
                </a:path>
              </a:pathLst>
            </a:custGeom>
            <a:solidFill>
              <a:srgbClr val="034383"/>
            </a:solidFill>
          </p:spPr>
        </p:sp>
        <p:sp>
          <p:nvSpPr>
            <p:cNvPr name="TextBox 4" id="4"/>
            <p:cNvSpPr txBox="true"/>
            <p:nvPr/>
          </p:nvSpPr>
          <p:spPr>
            <a:xfrm>
              <a:off x="0" y="-38100"/>
              <a:ext cx="5357966" cy="442090"/>
            </a:xfrm>
            <a:prstGeom prst="rect">
              <a:avLst/>
            </a:prstGeom>
          </p:spPr>
          <p:txBody>
            <a:bodyPr anchor="ctr" rtlCol="false" tIns="50800" lIns="50800" bIns="50800" rIns="50800"/>
            <a:lstStyle/>
            <a:p>
              <a:pPr algn="ctr">
                <a:lnSpc>
                  <a:spcPts val="3295"/>
                </a:lnSpc>
              </a:pPr>
            </a:p>
          </p:txBody>
        </p:sp>
      </p:grpSp>
      <p:sp>
        <p:nvSpPr>
          <p:cNvPr name="Freeform 5" id="5"/>
          <p:cNvSpPr/>
          <p:nvPr/>
        </p:nvSpPr>
        <p:spPr>
          <a:xfrm flipH="false" flipV="true" rot="0">
            <a:off x="0" y="0"/>
            <a:ext cx="10287000" cy="10287000"/>
          </a:xfrm>
          <a:custGeom>
            <a:avLst/>
            <a:gdLst/>
            <a:ahLst/>
            <a:cxnLst/>
            <a:rect r="r" b="b" t="t" l="l"/>
            <a:pathLst>
              <a:path h="10287000" w="10287000">
                <a:moveTo>
                  <a:pt x="0" y="10287000"/>
                </a:moveTo>
                <a:lnTo>
                  <a:pt x="10287000" y="10287000"/>
                </a:lnTo>
                <a:lnTo>
                  <a:pt x="10287000" y="0"/>
                </a:lnTo>
                <a:lnTo>
                  <a:pt x="0" y="0"/>
                </a:lnTo>
                <a:lnTo>
                  <a:pt x="0" y="1028700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13839386" y="-238847"/>
            <a:ext cx="3870050" cy="3870050"/>
          </a:xfrm>
          <a:custGeom>
            <a:avLst/>
            <a:gdLst/>
            <a:ahLst/>
            <a:cxnLst/>
            <a:rect r="r" b="b" t="t" l="l"/>
            <a:pathLst>
              <a:path h="3870050" w="3870050">
                <a:moveTo>
                  <a:pt x="0" y="0"/>
                </a:moveTo>
                <a:lnTo>
                  <a:pt x="3870050" y="0"/>
                </a:lnTo>
                <a:lnTo>
                  <a:pt x="3870050" y="3870050"/>
                </a:lnTo>
                <a:lnTo>
                  <a:pt x="0" y="3870050"/>
                </a:lnTo>
                <a:lnTo>
                  <a:pt x="0" y="0"/>
                </a:lnTo>
                <a:close/>
              </a:path>
            </a:pathLst>
          </a:custGeom>
          <a:blipFill>
            <a:blip r:embed="rId4"/>
            <a:stretch>
              <a:fillRect l="0" t="0" r="0" b="0"/>
            </a:stretch>
          </a:blipFill>
        </p:spPr>
      </p:sp>
      <p:sp>
        <p:nvSpPr>
          <p:cNvPr name="TextBox 7" id="7"/>
          <p:cNvSpPr txBox="true"/>
          <p:nvPr/>
        </p:nvSpPr>
        <p:spPr>
          <a:xfrm rot="0">
            <a:off x="3520885" y="4305179"/>
            <a:ext cx="11922611" cy="1752841"/>
          </a:xfrm>
          <a:prstGeom prst="rect">
            <a:avLst/>
          </a:prstGeom>
        </p:spPr>
        <p:txBody>
          <a:bodyPr anchor="t" rtlCol="false" tIns="0" lIns="0" bIns="0" rIns="0">
            <a:spAutoFit/>
          </a:bodyPr>
          <a:lstStyle/>
          <a:p>
            <a:pPr algn="ctr">
              <a:lnSpc>
                <a:spcPts val="13231"/>
              </a:lnSpc>
            </a:pPr>
            <a:r>
              <a:rPr lang="en-US" b="true" sz="12028">
                <a:solidFill>
                  <a:srgbClr val="034383"/>
                </a:solidFill>
                <a:latin typeface="Ubuntu Bold"/>
                <a:ea typeface="Ubuntu Bold"/>
                <a:cs typeface="Ubuntu Bold"/>
                <a:sym typeface="Ubuntu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DAGm8L1XZ2E</dc:identifier>
  <dcterms:modified xsi:type="dcterms:W3CDTF">2011-08-01T06:04:30Z</dcterms:modified>
  <cp:revision>1</cp:revision>
  <dc:title>Helical Antenna for CubeSat Using CST Tool</dc:title>
</cp:coreProperties>
</file>